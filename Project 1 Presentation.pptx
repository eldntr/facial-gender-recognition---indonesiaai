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y="5143500" cx="9144000"/>
  <p:notesSz cx="6858000" cy="9144000"/>
  <p:embeddedFontLst>
    <p:embeddedFont>
      <p:font typeface="Inter SemiBold"/>
      <p:regular r:id="rId27"/>
      <p:bold r:id="rId28"/>
      <p:italic r:id="rId29"/>
      <p:boldItalic r:id="rId30"/>
    </p:embeddedFont>
    <p:embeddedFont>
      <p:font typeface="Inter Light"/>
      <p:regular r:id="rId31"/>
      <p:bold r:id="rId32"/>
      <p:italic r:id="rId33"/>
      <p:boldItalic r:id="rId34"/>
    </p:embeddedFont>
    <p:embeddedFont>
      <p:font typeface="Inter ExtraBold"/>
      <p:bold r:id="rId35"/>
      <p:boldItalic r:id="rId36"/>
    </p:embeddedFont>
    <p:embeddedFont>
      <p:font typeface="Inter Black"/>
      <p:bold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InterSemiBold-bold.fntdata"/><Relationship Id="rId27" Type="http://schemas.openxmlformats.org/officeDocument/2006/relationships/font" Target="fonts/InterSemiBold-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InterSemiBold-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InterLight-regular.fntdata"/><Relationship Id="rId30" Type="http://schemas.openxmlformats.org/officeDocument/2006/relationships/font" Target="fonts/InterSemiBold-boldItalic.fntdata"/><Relationship Id="rId11" Type="http://schemas.openxmlformats.org/officeDocument/2006/relationships/slide" Target="slides/slide6.xml"/><Relationship Id="rId33" Type="http://schemas.openxmlformats.org/officeDocument/2006/relationships/font" Target="fonts/InterLight-italic.fntdata"/><Relationship Id="rId10" Type="http://schemas.openxmlformats.org/officeDocument/2006/relationships/slide" Target="slides/slide5.xml"/><Relationship Id="rId32" Type="http://schemas.openxmlformats.org/officeDocument/2006/relationships/font" Target="fonts/InterLight-bold.fntdata"/><Relationship Id="rId13" Type="http://schemas.openxmlformats.org/officeDocument/2006/relationships/slide" Target="slides/slide8.xml"/><Relationship Id="rId35" Type="http://schemas.openxmlformats.org/officeDocument/2006/relationships/font" Target="fonts/InterExtraBold-bold.fntdata"/><Relationship Id="rId12" Type="http://schemas.openxmlformats.org/officeDocument/2006/relationships/slide" Target="slides/slide7.xml"/><Relationship Id="rId34" Type="http://schemas.openxmlformats.org/officeDocument/2006/relationships/font" Target="fonts/InterLight-boldItalic.fntdata"/><Relationship Id="rId15" Type="http://schemas.openxmlformats.org/officeDocument/2006/relationships/slide" Target="slides/slide10.xml"/><Relationship Id="rId37" Type="http://schemas.openxmlformats.org/officeDocument/2006/relationships/font" Target="fonts/InterBlack-bold.fntdata"/><Relationship Id="rId14" Type="http://schemas.openxmlformats.org/officeDocument/2006/relationships/slide" Target="slides/slide9.xml"/><Relationship Id="rId36" Type="http://schemas.openxmlformats.org/officeDocument/2006/relationships/font" Target="fonts/InterExtraBold-boldItalic.fntdata"/><Relationship Id="rId17" Type="http://schemas.openxmlformats.org/officeDocument/2006/relationships/slide" Target="slides/slide12.xml"/><Relationship Id="rId16" Type="http://schemas.openxmlformats.org/officeDocument/2006/relationships/slide" Target="slides/slide11.xml"/><Relationship Id="rId38" Type="http://schemas.openxmlformats.org/officeDocument/2006/relationships/font" Target="fonts/InterBlack-bold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20a12c17a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20a12c17a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1f70667b0e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1f70667b0e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20a12c17a0_0_3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20a12c17a0_0_3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2c30a0ae6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2c30a0ae6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2db6502846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2db6502846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260c3afa6c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260c3afa6c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260c3afa6c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260c3afa6c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260c3afa6c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260c3afa6c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2db6502846_2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2db6502846_2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2db6502846_2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2db6502846_2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260c3afa6c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260c3afa6c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2dbbe7c820_1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2dbbe7c820_1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26ce026c22_21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326ce026c22_21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2db6502846_2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32db6502846_2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2db6502846_2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32db6502846_2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2db6502846_2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32db6502846_2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2db6502846_2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32db6502846_2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2dbbe7c820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32dbbe7c820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260c3afa6c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3260c3afa6c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2db6502846_1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32db6502846_1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32dc437acf9_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32dc437acf9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TITLE_1">
    <p:bg>
      <p:bgPr>
        <a:solidFill>
          <a:schemeClr val="dk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420875" y="1402000"/>
            <a:ext cx="4324800" cy="2432700"/>
          </a:xfrm>
          <a:prstGeom prst="rect">
            <a:avLst/>
          </a:prstGeom>
        </p:spPr>
        <p:txBody>
          <a:bodyPr anchorCtr="0" anchor="t" bIns="91425" lIns="91425" spcFirstLastPara="1" rIns="91425" wrap="square" tIns="91425">
            <a:normAutofit/>
          </a:bodyPr>
          <a:lstStyle>
            <a:lvl1pPr lvl="0">
              <a:lnSpc>
                <a:spcPct val="80000"/>
              </a:lnSpc>
              <a:spcBef>
                <a:spcPts val="0"/>
              </a:spcBef>
              <a:spcAft>
                <a:spcPts val="0"/>
              </a:spcAft>
              <a:buClr>
                <a:schemeClr val="lt1"/>
              </a:buClr>
              <a:buSzPts val="6000"/>
              <a:buFont typeface="Inter"/>
              <a:buNone/>
              <a:defRPr sz="6000">
                <a:solidFill>
                  <a:schemeClr val="lt1"/>
                </a:solidFill>
              </a:defRPr>
            </a:lvl1pPr>
            <a:lvl2pPr lvl="1">
              <a:lnSpc>
                <a:spcPct val="80000"/>
              </a:lnSpc>
              <a:spcBef>
                <a:spcPts val="0"/>
              </a:spcBef>
              <a:spcAft>
                <a:spcPts val="0"/>
              </a:spcAft>
              <a:buClr>
                <a:schemeClr val="lt1"/>
              </a:buClr>
              <a:buSzPts val="6000"/>
              <a:buFont typeface="Inter"/>
              <a:buNone/>
              <a:defRPr b="1" sz="6000">
                <a:solidFill>
                  <a:schemeClr val="lt1"/>
                </a:solidFill>
              </a:defRPr>
            </a:lvl2pPr>
            <a:lvl3pPr lvl="2">
              <a:lnSpc>
                <a:spcPct val="80000"/>
              </a:lnSpc>
              <a:spcBef>
                <a:spcPts val="0"/>
              </a:spcBef>
              <a:spcAft>
                <a:spcPts val="0"/>
              </a:spcAft>
              <a:buClr>
                <a:schemeClr val="lt1"/>
              </a:buClr>
              <a:buSzPts val="6000"/>
              <a:buFont typeface="Inter"/>
              <a:buNone/>
              <a:defRPr b="1" sz="6000">
                <a:solidFill>
                  <a:schemeClr val="lt1"/>
                </a:solidFill>
              </a:defRPr>
            </a:lvl3pPr>
            <a:lvl4pPr lvl="3">
              <a:lnSpc>
                <a:spcPct val="80000"/>
              </a:lnSpc>
              <a:spcBef>
                <a:spcPts val="0"/>
              </a:spcBef>
              <a:spcAft>
                <a:spcPts val="0"/>
              </a:spcAft>
              <a:buClr>
                <a:schemeClr val="lt1"/>
              </a:buClr>
              <a:buSzPts val="6000"/>
              <a:buFont typeface="Inter"/>
              <a:buNone/>
              <a:defRPr b="1" sz="6000">
                <a:solidFill>
                  <a:schemeClr val="lt1"/>
                </a:solidFill>
              </a:defRPr>
            </a:lvl4pPr>
            <a:lvl5pPr lvl="4">
              <a:lnSpc>
                <a:spcPct val="80000"/>
              </a:lnSpc>
              <a:spcBef>
                <a:spcPts val="0"/>
              </a:spcBef>
              <a:spcAft>
                <a:spcPts val="0"/>
              </a:spcAft>
              <a:buClr>
                <a:schemeClr val="lt1"/>
              </a:buClr>
              <a:buSzPts val="6000"/>
              <a:buFont typeface="Inter"/>
              <a:buNone/>
              <a:defRPr b="1" sz="6000">
                <a:solidFill>
                  <a:schemeClr val="lt1"/>
                </a:solidFill>
              </a:defRPr>
            </a:lvl5pPr>
            <a:lvl6pPr lvl="5">
              <a:lnSpc>
                <a:spcPct val="80000"/>
              </a:lnSpc>
              <a:spcBef>
                <a:spcPts val="0"/>
              </a:spcBef>
              <a:spcAft>
                <a:spcPts val="0"/>
              </a:spcAft>
              <a:buClr>
                <a:schemeClr val="lt1"/>
              </a:buClr>
              <a:buSzPts val="6000"/>
              <a:buFont typeface="Inter"/>
              <a:buNone/>
              <a:defRPr b="1" sz="6000">
                <a:solidFill>
                  <a:schemeClr val="lt1"/>
                </a:solidFill>
              </a:defRPr>
            </a:lvl6pPr>
            <a:lvl7pPr lvl="6">
              <a:lnSpc>
                <a:spcPct val="80000"/>
              </a:lnSpc>
              <a:spcBef>
                <a:spcPts val="0"/>
              </a:spcBef>
              <a:spcAft>
                <a:spcPts val="0"/>
              </a:spcAft>
              <a:buClr>
                <a:schemeClr val="lt1"/>
              </a:buClr>
              <a:buSzPts val="6000"/>
              <a:buFont typeface="Inter"/>
              <a:buNone/>
              <a:defRPr b="1" sz="6000">
                <a:solidFill>
                  <a:schemeClr val="lt1"/>
                </a:solidFill>
              </a:defRPr>
            </a:lvl7pPr>
            <a:lvl8pPr lvl="7">
              <a:lnSpc>
                <a:spcPct val="80000"/>
              </a:lnSpc>
              <a:spcBef>
                <a:spcPts val="0"/>
              </a:spcBef>
              <a:spcAft>
                <a:spcPts val="0"/>
              </a:spcAft>
              <a:buClr>
                <a:schemeClr val="lt1"/>
              </a:buClr>
              <a:buSzPts val="6000"/>
              <a:buFont typeface="Inter"/>
              <a:buNone/>
              <a:defRPr b="1" sz="6000">
                <a:solidFill>
                  <a:schemeClr val="lt1"/>
                </a:solidFill>
              </a:defRPr>
            </a:lvl8pPr>
            <a:lvl9pPr lvl="8">
              <a:lnSpc>
                <a:spcPct val="80000"/>
              </a:lnSpc>
              <a:spcBef>
                <a:spcPts val="0"/>
              </a:spcBef>
              <a:spcAft>
                <a:spcPts val="0"/>
              </a:spcAft>
              <a:buClr>
                <a:schemeClr val="lt1"/>
              </a:buClr>
              <a:buSzPts val="6000"/>
              <a:buFont typeface="Inter"/>
              <a:buNone/>
              <a:defRPr b="1" sz="6000">
                <a:solidFill>
                  <a:schemeClr val="lt1"/>
                </a:solidFill>
              </a:defRPr>
            </a:lvl9pPr>
          </a:lstStyle>
          <a:p/>
        </p:txBody>
      </p:sp>
      <p:sp>
        <p:nvSpPr>
          <p:cNvPr id="52" name="Google Shape;52;p13"/>
          <p:cNvSpPr txBox="1"/>
          <p:nvPr>
            <p:ph idx="2" type="title"/>
          </p:nvPr>
        </p:nvSpPr>
        <p:spPr>
          <a:xfrm>
            <a:off x="474350" y="3793500"/>
            <a:ext cx="4036500" cy="11532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2"/>
              </a:buClr>
              <a:buSzPts val="1800"/>
              <a:buFont typeface="Inter SemiBold"/>
              <a:buNone/>
              <a:defRPr b="0" sz="1800">
                <a:solidFill>
                  <a:schemeClr val="lt2"/>
                </a:solidFill>
                <a:latin typeface="Inter SemiBold"/>
                <a:ea typeface="Inter SemiBold"/>
                <a:cs typeface="Inter SemiBold"/>
                <a:sym typeface="Inter SemiBold"/>
              </a:defRPr>
            </a:lvl1pPr>
            <a:lvl2pPr lvl="1">
              <a:spcBef>
                <a:spcPts val="0"/>
              </a:spcBef>
              <a:spcAft>
                <a:spcPts val="0"/>
              </a:spcAft>
              <a:buClr>
                <a:schemeClr val="lt2"/>
              </a:buClr>
              <a:buSzPts val="1800"/>
              <a:buFont typeface="Inter"/>
              <a:buNone/>
              <a:defRPr sz="1800">
                <a:solidFill>
                  <a:schemeClr val="lt2"/>
                </a:solidFill>
              </a:defRPr>
            </a:lvl2pPr>
            <a:lvl3pPr lvl="2">
              <a:spcBef>
                <a:spcPts val="0"/>
              </a:spcBef>
              <a:spcAft>
                <a:spcPts val="0"/>
              </a:spcAft>
              <a:buClr>
                <a:schemeClr val="lt2"/>
              </a:buClr>
              <a:buSzPts val="1800"/>
              <a:buFont typeface="Inter"/>
              <a:buNone/>
              <a:defRPr sz="1800">
                <a:solidFill>
                  <a:schemeClr val="lt2"/>
                </a:solidFill>
              </a:defRPr>
            </a:lvl3pPr>
            <a:lvl4pPr lvl="3">
              <a:spcBef>
                <a:spcPts val="0"/>
              </a:spcBef>
              <a:spcAft>
                <a:spcPts val="0"/>
              </a:spcAft>
              <a:buClr>
                <a:schemeClr val="lt2"/>
              </a:buClr>
              <a:buSzPts val="1800"/>
              <a:buFont typeface="Inter"/>
              <a:buNone/>
              <a:defRPr sz="1800">
                <a:solidFill>
                  <a:schemeClr val="lt2"/>
                </a:solidFill>
              </a:defRPr>
            </a:lvl4pPr>
            <a:lvl5pPr lvl="4">
              <a:spcBef>
                <a:spcPts val="0"/>
              </a:spcBef>
              <a:spcAft>
                <a:spcPts val="0"/>
              </a:spcAft>
              <a:buClr>
                <a:schemeClr val="lt2"/>
              </a:buClr>
              <a:buSzPts val="1800"/>
              <a:buFont typeface="Inter"/>
              <a:buNone/>
              <a:defRPr sz="1800">
                <a:solidFill>
                  <a:schemeClr val="lt2"/>
                </a:solidFill>
              </a:defRPr>
            </a:lvl5pPr>
            <a:lvl6pPr lvl="5">
              <a:spcBef>
                <a:spcPts val="0"/>
              </a:spcBef>
              <a:spcAft>
                <a:spcPts val="0"/>
              </a:spcAft>
              <a:buClr>
                <a:schemeClr val="lt2"/>
              </a:buClr>
              <a:buSzPts val="1800"/>
              <a:buFont typeface="Inter"/>
              <a:buNone/>
              <a:defRPr sz="1800">
                <a:solidFill>
                  <a:schemeClr val="lt2"/>
                </a:solidFill>
              </a:defRPr>
            </a:lvl6pPr>
            <a:lvl7pPr lvl="6">
              <a:spcBef>
                <a:spcPts val="0"/>
              </a:spcBef>
              <a:spcAft>
                <a:spcPts val="0"/>
              </a:spcAft>
              <a:buClr>
                <a:schemeClr val="lt2"/>
              </a:buClr>
              <a:buSzPts val="1800"/>
              <a:buFont typeface="Inter"/>
              <a:buNone/>
              <a:defRPr sz="1800">
                <a:solidFill>
                  <a:schemeClr val="lt2"/>
                </a:solidFill>
              </a:defRPr>
            </a:lvl7pPr>
            <a:lvl8pPr lvl="7">
              <a:spcBef>
                <a:spcPts val="0"/>
              </a:spcBef>
              <a:spcAft>
                <a:spcPts val="0"/>
              </a:spcAft>
              <a:buClr>
                <a:schemeClr val="lt2"/>
              </a:buClr>
              <a:buSzPts val="1800"/>
              <a:buFont typeface="Inter"/>
              <a:buNone/>
              <a:defRPr sz="1800">
                <a:solidFill>
                  <a:schemeClr val="lt2"/>
                </a:solidFill>
              </a:defRPr>
            </a:lvl8pPr>
            <a:lvl9pPr lvl="8">
              <a:spcBef>
                <a:spcPts val="0"/>
              </a:spcBef>
              <a:spcAft>
                <a:spcPts val="0"/>
              </a:spcAft>
              <a:buClr>
                <a:schemeClr val="lt2"/>
              </a:buClr>
              <a:buSzPts val="1800"/>
              <a:buFont typeface="Inter"/>
              <a:buNone/>
              <a:defRPr sz="1800">
                <a:solidFill>
                  <a:schemeClr val="lt2"/>
                </a:solidFill>
              </a:defRPr>
            </a:lvl9pPr>
          </a:lstStyle>
          <a:p/>
        </p:txBody>
      </p:sp>
      <p:cxnSp>
        <p:nvCxnSpPr>
          <p:cNvPr id="53" name="Google Shape;53;p13"/>
          <p:cNvCxnSpPr/>
          <p:nvPr/>
        </p:nvCxnSpPr>
        <p:spPr>
          <a:xfrm rot="10800000">
            <a:off x="560525" y="279400"/>
            <a:ext cx="149400" cy="0"/>
          </a:xfrm>
          <a:prstGeom prst="straightConnector1">
            <a:avLst/>
          </a:prstGeom>
          <a:noFill/>
          <a:ln cap="flat" cmpd="sng" w="9525">
            <a:solidFill>
              <a:schemeClr val="lt2"/>
            </a:solidFill>
            <a:prstDash val="solid"/>
            <a:round/>
            <a:headEnd len="med" w="med" type="none"/>
            <a:tailEnd len="med" w="med" type="none"/>
          </a:ln>
        </p:spPr>
      </p:cxnSp>
      <p:sp>
        <p:nvSpPr>
          <p:cNvPr id="54" name="Google Shape;54;p13"/>
          <p:cNvSpPr/>
          <p:nvPr>
            <p:ph idx="3" type="pic"/>
          </p:nvPr>
        </p:nvSpPr>
        <p:spPr>
          <a:xfrm>
            <a:off x="5039775" y="196800"/>
            <a:ext cx="3905400" cy="4749900"/>
          </a:xfrm>
          <a:prstGeom prst="roundRect">
            <a:avLst>
              <a:gd fmla="val 2053" name="adj"/>
            </a:avLst>
          </a:prstGeom>
          <a:noFill/>
          <a:ln>
            <a:noFill/>
          </a:ln>
        </p:spPr>
      </p:sp>
      <p:sp>
        <p:nvSpPr>
          <p:cNvPr id="55" name="Google Shape;55;p13"/>
          <p:cNvSpPr txBox="1"/>
          <p:nvPr/>
        </p:nvSpPr>
        <p:spPr>
          <a:xfrm>
            <a:off x="420872" y="203200"/>
            <a:ext cx="428700" cy="393600"/>
          </a:xfrm>
          <a:prstGeom prst="rect">
            <a:avLst/>
          </a:prstGeom>
          <a:noFill/>
          <a:ln>
            <a:noFill/>
          </a:ln>
        </p:spPr>
        <p:txBody>
          <a:bodyPr anchorCtr="0" anchor="ctr" bIns="91425" lIns="91425" spcFirstLastPara="1" rIns="91425" wrap="square" tIns="91425">
            <a:normAutofit/>
          </a:bodyPr>
          <a:lstStyle/>
          <a:p>
            <a:pPr indent="0" lvl="0" marL="0" rtl="0" algn="ctr">
              <a:spcBef>
                <a:spcPts val="0"/>
              </a:spcBef>
              <a:spcAft>
                <a:spcPts val="0"/>
              </a:spcAft>
              <a:buNone/>
            </a:pPr>
            <a:fld id="{00000000-1234-1234-1234-123412341234}" type="slidenum">
              <a:rPr lang="id" sz="800">
                <a:solidFill>
                  <a:schemeClr val="lt2"/>
                </a:solidFill>
                <a:latin typeface="Inter Light"/>
                <a:ea typeface="Inter Light"/>
                <a:cs typeface="Inter Light"/>
                <a:sym typeface="Inter Light"/>
              </a:rPr>
              <a:t>‹#›</a:t>
            </a:fld>
            <a:endParaRPr sz="800">
              <a:solidFill>
                <a:schemeClr val="lt2"/>
              </a:solidFill>
              <a:latin typeface="Inter Light"/>
              <a:ea typeface="Inter Light"/>
              <a:cs typeface="Inter Light"/>
              <a:sym typeface="Inter Light"/>
            </a:endParaRPr>
          </a:p>
        </p:txBody>
      </p:sp>
    </p:spTree>
  </p:cSld>
  <p:clrMapOvr>
    <a:masterClrMapping/>
  </p:clrMapOvr>
  <p:extLst>
    <p:ext uri="{DCECCB84-F9BA-43D5-87BE-67443E8EF086}">
      <p15:sldGuideLst>
        <p15:guide id="1" pos="353">
          <p15:clr>
            <a:srgbClr val="E46962"/>
          </p15:clr>
        </p15:guide>
      </p15:sldGuideLst>
    </p:ext>
  </p:extLs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id"/>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49.png"/><Relationship Id="rId4" Type="http://schemas.openxmlformats.org/officeDocument/2006/relationships/image" Target="../media/image1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7.png"/><Relationship Id="rId9" Type="http://schemas.openxmlformats.org/officeDocument/2006/relationships/image" Target="../media/image10.png"/><Relationship Id="rId5" Type="http://schemas.openxmlformats.org/officeDocument/2006/relationships/image" Target="../media/image3.png"/><Relationship Id="rId6" Type="http://schemas.openxmlformats.org/officeDocument/2006/relationships/image" Target="../media/image13.png"/><Relationship Id="rId7" Type="http://schemas.openxmlformats.org/officeDocument/2006/relationships/image" Target="../media/image6.png"/><Relationship Id="rId8"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41.png"/><Relationship Id="rId5" Type="http://schemas.openxmlformats.org/officeDocument/2006/relationships/hyperlink" Target="https://mmlab.ie.cuhk.edu.hk/projects/CelebA.html"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2.png"/><Relationship Id="rId5" Type="http://schemas.openxmlformats.org/officeDocument/2006/relationships/image" Target="../media/image1.png"/><Relationship Id="rId6" Type="http://schemas.openxmlformats.org/officeDocument/2006/relationships/image" Target="../media/image2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image" Target="../media/image27.png"/><Relationship Id="rId5"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5.png"/><Relationship Id="rId4" Type="http://schemas.openxmlformats.org/officeDocument/2006/relationships/image" Target="../media/image39.png"/></Relationships>
</file>

<file path=ppt/slides/_rels/slide12.xml.rels><?xml version="1.0" encoding="UTF-8" standalone="yes"?><Relationships xmlns="http://schemas.openxmlformats.org/package/2006/relationships"><Relationship Id="rId10" Type="http://schemas.openxmlformats.org/officeDocument/2006/relationships/image" Target="../media/image18.png"/><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5.png"/><Relationship Id="rId4" Type="http://schemas.openxmlformats.org/officeDocument/2006/relationships/image" Target="../media/image15.png"/><Relationship Id="rId9" Type="http://schemas.openxmlformats.org/officeDocument/2006/relationships/image" Target="../media/image20.png"/><Relationship Id="rId5" Type="http://schemas.openxmlformats.org/officeDocument/2006/relationships/image" Target="../media/image12.png"/><Relationship Id="rId6" Type="http://schemas.openxmlformats.org/officeDocument/2006/relationships/image" Target="../media/image11.png"/><Relationship Id="rId7" Type="http://schemas.openxmlformats.org/officeDocument/2006/relationships/image" Target="../media/image33.png"/><Relationship Id="rId8" Type="http://schemas.openxmlformats.org/officeDocument/2006/relationships/image" Target="../media/image3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5.png"/><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5.png"/><Relationship Id="rId4" Type="http://schemas.openxmlformats.org/officeDocument/2006/relationships/image" Target="../media/image24.png"/><Relationship Id="rId9" Type="http://schemas.openxmlformats.org/officeDocument/2006/relationships/image" Target="../media/image31.png"/><Relationship Id="rId5" Type="http://schemas.openxmlformats.org/officeDocument/2006/relationships/image" Target="../media/image23.png"/><Relationship Id="rId6" Type="http://schemas.openxmlformats.org/officeDocument/2006/relationships/image" Target="../media/image17.png"/><Relationship Id="rId7" Type="http://schemas.openxmlformats.org/officeDocument/2006/relationships/image" Target="../media/image25.png"/><Relationship Id="rId8" Type="http://schemas.openxmlformats.org/officeDocument/2006/relationships/image" Target="../media/image4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5.png"/><Relationship Id="rId4" Type="http://schemas.openxmlformats.org/officeDocument/2006/relationships/image" Target="../media/image3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5.png"/><Relationship Id="rId4" Type="http://schemas.openxmlformats.org/officeDocument/2006/relationships/image" Target="../media/image21.png"/><Relationship Id="rId9" Type="http://schemas.openxmlformats.org/officeDocument/2006/relationships/image" Target="../media/image35.png"/><Relationship Id="rId5" Type="http://schemas.openxmlformats.org/officeDocument/2006/relationships/image" Target="../media/image40.png"/><Relationship Id="rId6" Type="http://schemas.openxmlformats.org/officeDocument/2006/relationships/image" Target="../media/image37.png"/><Relationship Id="rId7" Type="http://schemas.openxmlformats.org/officeDocument/2006/relationships/image" Target="../media/image26.png"/><Relationship Id="rId8" Type="http://schemas.openxmlformats.org/officeDocument/2006/relationships/image" Target="../media/image3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5.png"/><Relationship Id="rId4" Type="http://schemas.openxmlformats.org/officeDocument/2006/relationships/image" Target="../media/image4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5.png"/><Relationship Id="rId4" Type="http://schemas.openxmlformats.org/officeDocument/2006/relationships/image" Target="../media/image45.png"/><Relationship Id="rId9" Type="http://schemas.openxmlformats.org/officeDocument/2006/relationships/image" Target="../media/image43.png"/><Relationship Id="rId5" Type="http://schemas.openxmlformats.org/officeDocument/2006/relationships/image" Target="../media/image32.png"/><Relationship Id="rId6" Type="http://schemas.openxmlformats.org/officeDocument/2006/relationships/image" Target="../media/image47.png"/><Relationship Id="rId7" Type="http://schemas.openxmlformats.org/officeDocument/2006/relationships/image" Target="../media/image46.png"/><Relationship Id="rId8" Type="http://schemas.openxmlformats.org/officeDocument/2006/relationships/image" Target="../media/image4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C4587"/>
        </a:solidFill>
      </p:bgPr>
    </p:bg>
    <p:spTree>
      <p:nvGrpSpPr>
        <p:cNvPr id="59" name="Shape 59"/>
        <p:cNvGrpSpPr/>
        <p:nvPr/>
      </p:nvGrpSpPr>
      <p:grpSpPr>
        <a:xfrm>
          <a:off x="0" y="0"/>
          <a:ext cx="0" cy="0"/>
          <a:chOff x="0" y="0"/>
          <a:chExt cx="0" cy="0"/>
        </a:xfrm>
      </p:grpSpPr>
      <p:sp>
        <p:nvSpPr>
          <p:cNvPr id="60" name="Google Shape;60;p14"/>
          <p:cNvSpPr txBox="1"/>
          <p:nvPr>
            <p:ph type="title"/>
          </p:nvPr>
        </p:nvSpPr>
        <p:spPr>
          <a:xfrm>
            <a:off x="420875" y="2024375"/>
            <a:ext cx="3741000" cy="1664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id" sz="3040">
                <a:latin typeface="Inter Black"/>
                <a:ea typeface="Inter Black"/>
                <a:cs typeface="Inter Black"/>
                <a:sym typeface="Inter Black"/>
              </a:rPr>
              <a:t>Face Recognition Project</a:t>
            </a:r>
            <a:endParaRPr sz="3040">
              <a:latin typeface="Inter Black"/>
              <a:ea typeface="Inter Black"/>
              <a:cs typeface="Inter Black"/>
              <a:sym typeface="Inter Black"/>
            </a:endParaRPr>
          </a:p>
          <a:p>
            <a:pPr indent="0" lvl="0" marL="0" rtl="0" algn="l">
              <a:spcBef>
                <a:spcPts val="0"/>
              </a:spcBef>
              <a:spcAft>
                <a:spcPts val="0"/>
              </a:spcAft>
              <a:buNone/>
            </a:pPr>
            <a:r>
              <a:rPr lang="id" sz="1328">
                <a:latin typeface="Inter Black"/>
                <a:ea typeface="Inter Black"/>
                <a:cs typeface="Inter Black"/>
                <a:sym typeface="Inter Black"/>
              </a:rPr>
              <a:t>Task Gender Classification</a:t>
            </a:r>
            <a:endParaRPr sz="1328">
              <a:latin typeface="Inter Black"/>
              <a:ea typeface="Inter Black"/>
              <a:cs typeface="Inter Black"/>
              <a:sym typeface="Inter Black"/>
            </a:endParaRPr>
          </a:p>
        </p:txBody>
      </p:sp>
      <p:sp>
        <p:nvSpPr>
          <p:cNvPr id="61" name="Google Shape;61;p14"/>
          <p:cNvSpPr txBox="1"/>
          <p:nvPr>
            <p:ph idx="2" type="title"/>
          </p:nvPr>
        </p:nvSpPr>
        <p:spPr>
          <a:xfrm>
            <a:off x="458525" y="3278975"/>
            <a:ext cx="4036500" cy="410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sz="1200">
                <a:solidFill>
                  <a:schemeClr val="lt1"/>
                </a:solidFill>
              </a:rPr>
              <a:t>Portofolio Project 1</a:t>
            </a:r>
            <a:endParaRPr sz="1200">
              <a:solidFill>
                <a:schemeClr val="lt1"/>
              </a:solidFill>
            </a:endParaRPr>
          </a:p>
        </p:txBody>
      </p:sp>
      <p:sp>
        <p:nvSpPr>
          <p:cNvPr id="62" name="Google Shape;62;p14"/>
          <p:cNvSpPr/>
          <p:nvPr/>
        </p:nvSpPr>
        <p:spPr>
          <a:xfrm>
            <a:off x="458525" y="1279250"/>
            <a:ext cx="2406000" cy="410100"/>
          </a:xfrm>
          <a:prstGeom prst="roundRect">
            <a:avLst>
              <a:gd fmla="val 50000" name="adj"/>
            </a:avLst>
          </a:prstGeom>
          <a:solidFill>
            <a:srgbClr val="3C78D8"/>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id">
                <a:solidFill>
                  <a:schemeClr val="lt1"/>
                </a:solidFill>
                <a:latin typeface="Inter ExtraBold"/>
                <a:ea typeface="Inter ExtraBold"/>
                <a:cs typeface="Inter ExtraBold"/>
                <a:sym typeface="Inter ExtraBold"/>
              </a:rPr>
              <a:t>CV A - </a:t>
            </a:r>
            <a:r>
              <a:rPr lang="id">
                <a:solidFill>
                  <a:schemeClr val="lt1"/>
                </a:solidFill>
                <a:latin typeface="Inter ExtraBold"/>
                <a:ea typeface="Inter ExtraBold"/>
                <a:cs typeface="Inter ExtraBold"/>
                <a:sym typeface="Inter ExtraBold"/>
              </a:rPr>
              <a:t>Hinton’s Prophet</a:t>
            </a:r>
            <a:r>
              <a:rPr lang="id">
                <a:solidFill>
                  <a:schemeClr val="lt1"/>
                </a:solidFill>
                <a:latin typeface="Inter ExtraBold"/>
                <a:ea typeface="Inter ExtraBold"/>
                <a:cs typeface="Inter ExtraBold"/>
                <a:sym typeface="Inter ExtraBold"/>
              </a:rPr>
              <a:t> </a:t>
            </a:r>
            <a:endParaRPr>
              <a:solidFill>
                <a:schemeClr val="lt1"/>
              </a:solidFill>
              <a:latin typeface="Inter ExtraBold"/>
              <a:ea typeface="Inter ExtraBold"/>
              <a:cs typeface="Inter ExtraBold"/>
              <a:sym typeface="Inter ExtraBold"/>
            </a:endParaRPr>
          </a:p>
        </p:txBody>
      </p:sp>
      <p:pic>
        <p:nvPicPr>
          <p:cNvPr id="63" name="Google Shape;63;p14"/>
          <p:cNvPicPr preferRelativeResize="0"/>
          <p:nvPr/>
        </p:nvPicPr>
        <p:blipFill rotWithShape="1">
          <a:blip r:embed="rId3">
            <a:alphaModFix amt="75000"/>
          </a:blip>
          <a:srcRect b="0" l="17261" r="17254" t="0"/>
          <a:stretch/>
        </p:blipFill>
        <p:spPr>
          <a:xfrm>
            <a:off x="4386875" y="708350"/>
            <a:ext cx="4489200" cy="3856200"/>
          </a:xfrm>
          <a:prstGeom prst="round2DiagRect">
            <a:avLst>
              <a:gd fmla="val 16667" name="adj1"/>
              <a:gd fmla="val 0" name="adj2"/>
            </a:avLst>
          </a:prstGeom>
          <a:noFill/>
          <a:ln>
            <a:noFill/>
          </a:ln>
        </p:spPr>
      </p:pic>
      <p:pic>
        <p:nvPicPr>
          <p:cNvPr id="64" name="Google Shape;64;p14"/>
          <p:cNvPicPr preferRelativeResize="0"/>
          <p:nvPr/>
        </p:nvPicPr>
        <p:blipFill>
          <a:blip r:embed="rId4">
            <a:alphaModFix/>
          </a:blip>
          <a:stretch>
            <a:fillRect/>
          </a:stretch>
        </p:blipFill>
        <p:spPr>
          <a:xfrm>
            <a:off x="4415625" y="3854300"/>
            <a:ext cx="2224476" cy="63214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FEF"/>
        </a:solidFill>
      </p:bgPr>
    </p:bg>
    <p:spTree>
      <p:nvGrpSpPr>
        <p:cNvPr id="68" name="Shape 68"/>
        <p:cNvGrpSpPr/>
        <p:nvPr/>
      </p:nvGrpSpPr>
      <p:grpSpPr>
        <a:xfrm>
          <a:off x="0" y="0"/>
          <a:ext cx="0" cy="0"/>
          <a:chOff x="0" y="0"/>
          <a:chExt cx="0" cy="0"/>
        </a:xfrm>
      </p:grpSpPr>
      <p:sp>
        <p:nvSpPr>
          <p:cNvPr id="69" name="Google Shape;69;p15"/>
          <p:cNvSpPr txBox="1"/>
          <p:nvPr>
            <p:ph idx="1" type="body"/>
          </p:nvPr>
        </p:nvSpPr>
        <p:spPr>
          <a:xfrm>
            <a:off x="915700" y="1598450"/>
            <a:ext cx="7226700" cy="1199700"/>
          </a:xfrm>
          <a:prstGeom prst="rect">
            <a:avLst/>
          </a:prstGeom>
        </p:spPr>
        <p:txBody>
          <a:bodyPr anchorCtr="0" anchor="t" bIns="91425" lIns="91425" spcFirstLastPara="1" rIns="91425" wrap="square" tIns="91425">
            <a:noAutofit/>
          </a:bodyPr>
          <a:lstStyle/>
          <a:p>
            <a:pPr indent="0" lvl="0" marL="0" rtl="0" algn="ctr">
              <a:lnSpc>
                <a:spcPct val="105000"/>
              </a:lnSpc>
              <a:spcBef>
                <a:spcPts val="0"/>
              </a:spcBef>
              <a:spcAft>
                <a:spcPts val="1200"/>
              </a:spcAft>
              <a:buSzPts val="1018"/>
              <a:buNone/>
            </a:pPr>
            <a:r>
              <a:rPr lang="id" sz="1965">
                <a:latin typeface="Cambria"/>
                <a:ea typeface="Cambria"/>
                <a:cs typeface="Cambria"/>
                <a:sym typeface="Cambria"/>
              </a:rPr>
              <a:t>“Mengembangkan sistem berbasis teknologi AI untuk mengidentifikasi wajah manusia secara otomatis, dengan task khusus mengenali gender”</a:t>
            </a:r>
            <a:endParaRPr sz="1965">
              <a:latin typeface="Cambria"/>
              <a:ea typeface="Cambria"/>
              <a:cs typeface="Cambria"/>
              <a:sym typeface="Cambria"/>
            </a:endParaRPr>
          </a:p>
        </p:txBody>
      </p:sp>
      <p:sp>
        <p:nvSpPr>
          <p:cNvPr id="70" name="Google Shape;70;p15"/>
          <p:cNvSpPr/>
          <p:nvPr/>
        </p:nvSpPr>
        <p:spPr>
          <a:xfrm>
            <a:off x="0" y="4568875"/>
            <a:ext cx="9144000" cy="572700"/>
          </a:xfrm>
          <a:prstGeom prst="rect">
            <a:avLst/>
          </a:prstGeom>
          <a:solidFill>
            <a:srgbClr val="1C4587"/>
          </a:solidFill>
          <a:ln cap="flat" cmpd="sng" w="9525">
            <a:solidFill>
              <a:srgbClr val="BDADE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 name="Google Shape;71;p15"/>
          <p:cNvSpPr/>
          <p:nvPr/>
        </p:nvSpPr>
        <p:spPr>
          <a:xfrm>
            <a:off x="397900" y="453100"/>
            <a:ext cx="1962600" cy="410100"/>
          </a:xfrm>
          <a:prstGeom prst="roundRect">
            <a:avLst>
              <a:gd fmla="val 50000" name="adj"/>
            </a:avLst>
          </a:prstGeom>
          <a:solidFill>
            <a:srgbClr val="3C78D8"/>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id">
                <a:solidFill>
                  <a:schemeClr val="lt1"/>
                </a:solidFill>
                <a:latin typeface="Inter ExtraBold"/>
                <a:ea typeface="Inter ExtraBold"/>
                <a:cs typeface="Inter ExtraBold"/>
                <a:sym typeface="Inter ExtraBold"/>
              </a:rPr>
              <a:t>OBJECTIVE</a:t>
            </a:r>
            <a:endParaRPr>
              <a:solidFill>
                <a:schemeClr val="lt1"/>
              </a:solidFill>
              <a:latin typeface="Inter ExtraBold"/>
              <a:ea typeface="Inter ExtraBold"/>
              <a:cs typeface="Inter ExtraBold"/>
              <a:sym typeface="Inter ExtraBold"/>
            </a:endParaRPr>
          </a:p>
        </p:txBody>
      </p:sp>
      <p:sp>
        <p:nvSpPr>
          <p:cNvPr id="72" name="Google Shape;72;p15"/>
          <p:cNvSpPr txBox="1"/>
          <p:nvPr>
            <p:ph idx="4294967295" type="title"/>
          </p:nvPr>
        </p:nvSpPr>
        <p:spPr>
          <a:xfrm>
            <a:off x="72650" y="4650188"/>
            <a:ext cx="4036500" cy="410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sz="1200">
                <a:solidFill>
                  <a:schemeClr val="lt1"/>
                </a:solidFill>
              </a:rPr>
              <a:t>Hinton’s Prophet - Project 1</a:t>
            </a:r>
            <a:endParaRPr sz="1200">
              <a:solidFill>
                <a:schemeClr val="lt1"/>
              </a:solidFill>
            </a:endParaRPr>
          </a:p>
        </p:txBody>
      </p:sp>
      <p:pic>
        <p:nvPicPr>
          <p:cNvPr id="73" name="Google Shape;73;p15"/>
          <p:cNvPicPr preferRelativeResize="0"/>
          <p:nvPr/>
        </p:nvPicPr>
        <p:blipFill>
          <a:blip r:embed="rId3">
            <a:alphaModFix/>
          </a:blip>
          <a:stretch>
            <a:fillRect/>
          </a:stretch>
        </p:blipFill>
        <p:spPr>
          <a:xfrm>
            <a:off x="7119853" y="4660139"/>
            <a:ext cx="1905651" cy="3661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FEF"/>
        </a:solidFill>
      </p:bgPr>
    </p:bg>
    <p:spTree>
      <p:nvGrpSpPr>
        <p:cNvPr id="77" name="Shape 77"/>
        <p:cNvGrpSpPr/>
        <p:nvPr/>
      </p:nvGrpSpPr>
      <p:grpSpPr>
        <a:xfrm>
          <a:off x="0" y="0"/>
          <a:ext cx="0" cy="0"/>
          <a:chOff x="0" y="0"/>
          <a:chExt cx="0" cy="0"/>
        </a:xfrm>
      </p:grpSpPr>
      <p:sp>
        <p:nvSpPr>
          <p:cNvPr id="78" name="Google Shape;78;p16"/>
          <p:cNvSpPr/>
          <p:nvPr/>
        </p:nvSpPr>
        <p:spPr>
          <a:xfrm>
            <a:off x="0" y="4568875"/>
            <a:ext cx="9144000" cy="572700"/>
          </a:xfrm>
          <a:prstGeom prst="rect">
            <a:avLst/>
          </a:prstGeom>
          <a:solidFill>
            <a:srgbClr val="1C4587"/>
          </a:solidFill>
          <a:ln cap="flat" cmpd="sng" w="9525">
            <a:solidFill>
              <a:srgbClr val="9E73E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 name="Google Shape;79;p16"/>
          <p:cNvSpPr/>
          <p:nvPr/>
        </p:nvSpPr>
        <p:spPr>
          <a:xfrm>
            <a:off x="397900" y="453100"/>
            <a:ext cx="3973500" cy="410100"/>
          </a:xfrm>
          <a:prstGeom prst="roundRect">
            <a:avLst>
              <a:gd fmla="val 50000" name="adj"/>
            </a:avLst>
          </a:prstGeom>
          <a:solidFill>
            <a:srgbClr val="3C78D8"/>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id">
                <a:solidFill>
                  <a:schemeClr val="lt1"/>
                </a:solidFill>
                <a:latin typeface="Inter ExtraBold"/>
                <a:ea typeface="Inter ExtraBold"/>
                <a:cs typeface="Inter ExtraBold"/>
                <a:sym typeface="Inter ExtraBold"/>
              </a:rPr>
              <a:t>Business</a:t>
            </a:r>
            <a:r>
              <a:rPr lang="id">
                <a:solidFill>
                  <a:schemeClr val="lt1"/>
                </a:solidFill>
                <a:latin typeface="Inter ExtraBold"/>
                <a:ea typeface="Inter ExtraBold"/>
                <a:cs typeface="Inter ExtraBold"/>
                <a:sym typeface="Inter ExtraBold"/>
              </a:rPr>
              <a:t> and Domain Understanding</a:t>
            </a:r>
            <a:endParaRPr>
              <a:solidFill>
                <a:schemeClr val="lt1"/>
              </a:solidFill>
              <a:latin typeface="Inter ExtraBold"/>
              <a:ea typeface="Inter ExtraBold"/>
              <a:cs typeface="Inter ExtraBold"/>
              <a:sym typeface="Inter ExtraBold"/>
            </a:endParaRPr>
          </a:p>
        </p:txBody>
      </p:sp>
      <p:sp>
        <p:nvSpPr>
          <p:cNvPr id="80" name="Google Shape;80;p16"/>
          <p:cNvSpPr txBox="1"/>
          <p:nvPr>
            <p:ph idx="4294967295" type="title"/>
          </p:nvPr>
        </p:nvSpPr>
        <p:spPr>
          <a:xfrm>
            <a:off x="72650" y="4650188"/>
            <a:ext cx="4036500" cy="410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sz="1200">
                <a:solidFill>
                  <a:schemeClr val="lt1"/>
                </a:solidFill>
              </a:rPr>
              <a:t>Hinton’s Prophet - Project 1</a:t>
            </a:r>
            <a:endParaRPr sz="1200">
              <a:solidFill>
                <a:schemeClr val="lt1"/>
              </a:solidFill>
            </a:endParaRPr>
          </a:p>
        </p:txBody>
      </p:sp>
      <p:pic>
        <p:nvPicPr>
          <p:cNvPr id="81" name="Google Shape;81;p16"/>
          <p:cNvPicPr preferRelativeResize="0"/>
          <p:nvPr/>
        </p:nvPicPr>
        <p:blipFill>
          <a:blip r:embed="rId3">
            <a:alphaModFix/>
          </a:blip>
          <a:stretch>
            <a:fillRect/>
          </a:stretch>
        </p:blipFill>
        <p:spPr>
          <a:xfrm>
            <a:off x="7119853" y="4660139"/>
            <a:ext cx="1905651" cy="366100"/>
          </a:xfrm>
          <a:prstGeom prst="rect">
            <a:avLst/>
          </a:prstGeom>
          <a:noFill/>
          <a:ln>
            <a:noFill/>
          </a:ln>
        </p:spPr>
      </p:pic>
      <p:sp>
        <p:nvSpPr>
          <p:cNvPr id="82" name="Google Shape;82;p16"/>
          <p:cNvSpPr txBox="1"/>
          <p:nvPr/>
        </p:nvSpPr>
        <p:spPr>
          <a:xfrm>
            <a:off x="510700" y="1025625"/>
            <a:ext cx="3747900" cy="2885400"/>
          </a:xfrm>
          <a:prstGeom prst="rect">
            <a:avLst/>
          </a:prstGeom>
          <a:noFill/>
          <a:ln>
            <a:noFill/>
          </a:ln>
        </p:spPr>
        <p:txBody>
          <a:bodyPr anchorCtr="0" anchor="t" bIns="91425" lIns="91425" spcFirstLastPara="1" rIns="91425" wrap="square" tIns="91425">
            <a:spAutoFit/>
          </a:bodyPr>
          <a:lstStyle/>
          <a:p>
            <a:pPr indent="-298450" lvl="0" marL="457200" rtl="0" algn="just">
              <a:lnSpc>
                <a:spcPct val="115000"/>
              </a:lnSpc>
              <a:spcBef>
                <a:spcPts val="1200"/>
              </a:spcBef>
              <a:spcAft>
                <a:spcPts val="0"/>
              </a:spcAft>
              <a:buClr>
                <a:schemeClr val="dk1"/>
              </a:buClr>
              <a:buSzPts val="1100"/>
              <a:buFont typeface="Cambria"/>
              <a:buChar char="●"/>
            </a:pPr>
            <a:r>
              <a:rPr b="1" lang="id" sz="1100">
                <a:solidFill>
                  <a:schemeClr val="dk1"/>
                </a:solidFill>
                <a:latin typeface="Cambria"/>
                <a:ea typeface="Cambria"/>
                <a:cs typeface="Cambria"/>
                <a:sym typeface="Cambria"/>
              </a:rPr>
              <a:t>Teknologi Face Recognition</a:t>
            </a:r>
            <a:r>
              <a:rPr b="1" lang="id" sz="1100">
                <a:solidFill>
                  <a:schemeClr val="dk1"/>
                </a:solidFill>
                <a:latin typeface="Cambria"/>
                <a:ea typeface="Cambria"/>
                <a:cs typeface="Cambria"/>
                <a:sym typeface="Cambria"/>
              </a:rPr>
              <a:t>:</a:t>
            </a:r>
            <a:r>
              <a:rPr lang="id" sz="1100">
                <a:solidFill>
                  <a:schemeClr val="dk1"/>
                </a:solidFill>
                <a:latin typeface="Cambria"/>
                <a:ea typeface="Cambria"/>
                <a:cs typeface="Cambria"/>
                <a:sym typeface="Cambria"/>
              </a:rPr>
              <a:t> </a:t>
            </a:r>
            <a:r>
              <a:rPr lang="id" sz="1100">
                <a:solidFill>
                  <a:schemeClr val="dk1"/>
                </a:solidFill>
                <a:latin typeface="Cambria"/>
                <a:ea typeface="Cambria"/>
                <a:cs typeface="Cambria"/>
                <a:sym typeface="Cambria"/>
              </a:rPr>
              <a:t>Penggunaan teknologi pengenalan wajah meningkat pesat untuk berbagai kebutuhan, seperti keamanan, pembayaran tanpa kontak, hingga personalisasi pengalaman pengguna di sektor retail, kesehatan, dan pendidikan. Pada 2025, pasar global teknologi pengenalan wajah diperkirakan mencapai </a:t>
            </a:r>
            <a:r>
              <a:rPr b="1" lang="id" sz="1100">
                <a:solidFill>
                  <a:schemeClr val="dk1"/>
                </a:solidFill>
                <a:latin typeface="Cambria"/>
                <a:ea typeface="Cambria"/>
                <a:cs typeface="Cambria"/>
                <a:sym typeface="Cambria"/>
              </a:rPr>
              <a:t>$12,67 miliar</a:t>
            </a:r>
            <a:r>
              <a:rPr lang="id" sz="1100">
                <a:solidFill>
                  <a:schemeClr val="dk1"/>
                </a:solidFill>
                <a:latin typeface="Cambria"/>
                <a:ea typeface="Cambria"/>
                <a:cs typeface="Cambria"/>
                <a:sym typeface="Cambria"/>
              </a:rPr>
              <a:t> dengan tingkat pertumbuhan tahunan sebesar </a:t>
            </a:r>
            <a:r>
              <a:rPr b="1" lang="id" sz="1100">
                <a:solidFill>
                  <a:schemeClr val="dk1"/>
                </a:solidFill>
                <a:latin typeface="Cambria"/>
                <a:ea typeface="Cambria"/>
                <a:cs typeface="Cambria"/>
                <a:sym typeface="Cambria"/>
              </a:rPr>
              <a:t>16,6%</a:t>
            </a:r>
            <a:r>
              <a:rPr lang="id" sz="1100">
                <a:solidFill>
                  <a:schemeClr val="dk1"/>
                </a:solidFill>
                <a:latin typeface="Cambria"/>
                <a:ea typeface="Cambria"/>
                <a:cs typeface="Cambria"/>
                <a:sym typeface="Cambria"/>
              </a:rPr>
              <a:t> (Statista, 2025).</a:t>
            </a:r>
            <a:endParaRPr sz="1100">
              <a:solidFill>
                <a:schemeClr val="dk1"/>
              </a:solidFill>
              <a:latin typeface="Cambria"/>
              <a:ea typeface="Cambria"/>
              <a:cs typeface="Cambria"/>
              <a:sym typeface="Cambria"/>
            </a:endParaRPr>
          </a:p>
          <a:p>
            <a:pPr indent="-298450" lvl="0" marL="457200" rtl="0" algn="just">
              <a:lnSpc>
                <a:spcPct val="115000"/>
              </a:lnSpc>
              <a:spcBef>
                <a:spcPts val="0"/>
              </a:spcBef>
              <a:spcAft>
                <a:spcPts val="0"/>
              </a:spcAft>
              <a:buClr>
                <a:schemeClr val="dk1"/>
              </a:buClr>
              <a:buSzPts val="1100"/>
              <a:buFont typeface="Cambria"/>
              <a:buChar char="●"/>
            </a:pPr>
            <a:r>
              <a:rPr lang="id" sz="1100">
                <a:solidFill>
                  <a:schemeClr val="dk1"/>
                </a:solidFill>
                <a:latin typeface="Cambria"/>
                <a:ea typeface="Cambria"/>
                <a:cs typeface="Cambria"/>
                <a:sym typeface="Cambria"/>
              </a:rPr>
              <a:t>Banyak pemerintah dan perusahaan besar mulai menerapkan sistem berbasis AI untuk pengenalan wajah. Contohnya adalah implementasi </a:t>
            </a:r>
            <a:r>
              <a:rPr b="1" lang="id" sz="1100">
                <a:solidFill>
                  <a:schemeClr val="dk1"/>
                </a:solidFill>
                <a:latin typeface="Cambria"/>
                <a:ea typeface="Cambria"/>
                <a:cs typeface="Cambria"/>
                <a:sym typeface="Cambria"/>
              </a:rPr>
              <a:t>boarding KAI berbasis biometrik</a:t>
            </a:r>
            <a:r>
              <a:rPr lang="id" sz="1100">
                <a:solidFill>
                  <a:schemeClr val="dk1"/>
                </a:solidFill>
                <a:latin typeface="Cambria"/>
                <a:ea typeface="Cambria"/>
                <a:cs typeface="Cambria"/>
                <a:sym typeface="Cambria"/>
              </a:rPr>
              <a:t> di Indonesia untuk keperluan naik kereta api di Indonesia.</a:t>
            </a:r>
            <a:endParaRPr sz="1100">
              <a:solidFill>
                <a:schemeClr val="dk1"/>
              </a:solidFill>
              <a:latin typeface="Cambria"/>
              <a:ea typeface="Cambria"/>
              <a:cs typeface="Cambria"/>
              <a:sym typeface="Cambria"/>
            </a:endParaRPr>
          </a:p>
        </p:txBody>
      </p:sp>
      <p:pic>
        <p:nvPicPr>
          <p:cNvPr id="83" name="Google Shape;83;p16"/>
          <p:cNvPicPr preferRelativeResize="0"/>
          <p:nvPr/>
        </p:nvPicPr>
        <p:blipFill>
          <a:blip r:embed="rId4">
            <a:alphaModFix/>
          </a:blip>
          <a:stretch>
            <a:fillRect/>
          </a:stretch>
        </p:blipFill>
        <p:spPr>
          <a:xfrm>
            <a:off x="4883000" y="453100"/>
            <a:ext cx="3747901" cy="374790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FEF"/>
        </a:solidFill>
      </p:bgPr>
    </p:bg>
    <p:spTree>
      <p:nvGrpSpPr>
        <p:cNvPr id="87" name="Shape 87"/>
        <p:cNvGrpSpPr/>
        <p:nvPr/>
      </p:nvGrpSpPr>
      <p:grpSpPr>
        <a:xfrm>
          <a:off x="0" y="0"/>
          <a:ext cx="0" cy="0"/>
          <a:chOff x="0" y="0"/>
          <a:chExt cx="0" cy="0"/>
        </a:xfrm>
      </p:grpSpPr>
      <p:sp>
        <p:nvSpPr>
          <p:cNvPr id="88" name="Google Shape;88;p17"/>
          <p:cNvSpPr/>
          <p:nvPr/>
        </p:nvSpPr>
        <p:spPr>
          <a:xfrm>
            <a:off x="0" y="4568875"/>
            <a:ext cx="9144000" cy="572700"/>
          </a:xfrm>
          <a:prstGeom prst="rect">
            <a:avLst/>
          </a:prstGeom>
          <a:solidFill>
            <a:srgbClr val="1C4587"/>
          </a:solidFill>
          <a:ln cap="flat" cmpd="sng" w="9525">
            <a:solidFill>
              <a:srgbClr val="9E73E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9" name="Google Shape;89;p17"/>
          <p:cNvSpPr/>
          <p:nvPr/>
        </p:nvSpPr>
        <p:spPr>
          <a:xfrm>
            <a:off x="397900" y="453100"/>
            <a:ext cx="3973500" cy="410100"/>
          </a:xfrm>
          <a:prstGeom prst="roundRect">
            <a:avLst>
              <a:gd fmla="val 50000" name="adj"/>
            </a:avLst>
          </a:prstGeom>
          <a:solidFill>
            <a:srgbClr val="3C78D8"/>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id">
                <a:solidFill>
                  <a:schemeClr val="lt1"/>
                </a:solidFill>
                <a:latin typeface="Inter ExtraBold"/>
                <a:ea typeface="Inter ExtraBold"/>
                <a:cs typeface="Inter ExtraBold"/>
                <a:sym typeface="Inter ExtraBold"/>
              </a:rPr>
              <a:t>Business and Domain Understanding</a:t>
            </a:r>
            <a:endParaRPr>
              <a:solidFill>
                <a:schemeClr val="lt1"/>
              </a:solidFill>
              <a:latin typeface="Inter ExtraBold"/>
              <a:ea typeface="Inter ExtraBold"/>
              <a:cs typeface="Inter ExtraBold"/>
              <a:sym typeface="Inter ExtraBold"/>
            </a:endParaRPr>
          </a:p>
        </p:txBody>
      </p:sp>
      <p:sp>
        <p:nvSpPr>
          <p:cNvPr id="90" name="Google Shape;90;p17"/>
          <p:cNvSpPr txBox="1"/>
          <p:nvPr>
            <p:ph idx="4294967295" type="title"/>
          </p:nvPr>
        </p:nvSpPr>
        <p:spPr>
          <a:xfrm>
            <a:off x="72650" y="4650188"/>
            <a:ext cx="4036500" cy="410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sz="1200">
                <a:solidFill>
                  <a:schemeClr val="lt1"/>
                </a:solidFill>
              </a:rPr>
              <a:t>Hinton’s Prophet - Project 1</a:t>
            </a:r>
            <a:endParaRPr sz="1200">
              <a:solidFill>
                <a:schemeClr val="lt1"/>
              </a:solidFill>
            </a:endParaRPr>
          </a:p>
        </p:txBody>
      </p:sp>
      <p:pic>
        <p:nvPicPr>
          <p:cNvPr id="91" name="Google Shape;91;p17"/>
          <p:cNvPicPr preferRelativeResize="0"/>
          <p:nvPr/>
        </p:nvPicPr>
        <p:blipFill>
          <a:blip r:embed="rId3">
            <a:alphaModFix/>
          </a:blip>
          <a:stretch>
            <a:fillRect/>
          </a:stretch>
        </p:blipFill>
        <p:spPr>
          <a:xfrm>
            <a:off x="7119853" y="4660139"/>
            <a:ext cx="1905651" cy="366100"/>
          </a:xfrm>
          <a:prstGeom prst="rect">
            <a:avLst/>
          </a:prstGeom>
          <a:noFill/>
          <a:ln>
            <a:noFill/>
          </a:ln>
        </p:spPr>
      </p:pic>
      <p:sp>
        <p:nvSpPr>
          <p:cNvPr id="92" name="Google Shape;92;p17"/>
          <p:cNvSpPr txBox="1"/>
          <p:nvPr/>
        </p:nvSpPr>
        <p:spPr>
          <a:xfrm>
            <a:off x="706500" y="1062800"/>
            <a:ext cx="7731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id">
                <a:solidFill>
                  <a:schemeClr val="dk1"/>
                </a:solidFill>
                <a:latin typeface="Cambria"/>
                <a:ea typeface="Cambria"/>
                <a:cs typeface="Cambria"/>
                <a:sym typeface="Cambria"/>
              </a:rPr>
              <a:t>Seberapa Penting Pengembangan Aplikasi Berbasis AI dalam Pengenalan Wajah ?</a:t>
            </a:r>
            <a:endParaRPr>
              <a:solidFill>
                <a:schemeClr val="dk1"/>
              </a:solidFill>
              <a:latin typeface="Cambria"/>
              <a:ea typeface="Cambria"/>
              <a:cs typeface="Cambria"/>
              <a:sym typeface="Cambria"/>
            </a:endParaRPr>
          </a:p>
        </p:txBody>
      </p:sp>
      <p:sp>
        <p:nvSpPr>
          <p:cNvPr id="93" name="Google Shape;93;p17"/>
          <p:cNvSpPr/>
          <p:nvPr/>
        </p:nvSpPr>
        <p:spPr>
          <a:xfrm>
            <a:off x="799875" y="1565625"/>
            <a:ext cx="6488100" cy="572700"/>
          </a:xfrm>
          <a:prstGeom prst="roundRect">
            <a:avLst>
              <a:gd fmla="val 16667" name="adj"/>
            </a:avLst>
          </a:prstGeom>
          <a:solidFill>
            <a:srgbClr val="3C78D8"/>
          </a:solidFill>
          <a:ln cap="flat" cmpd="sng" w="9525">
            <a:solidFill>
              <a:srgbClr val="3C78D8"/>
            </a:solidFill>
            <a:prstDash val="solid"/>
            <a:round/>
            <a:headEnd len="sm" w="sm" type="none"/>
            <a:tailEnd len="sm" w="sm" type="none"/>
          </a:ln>
        </p:spPr>
        <p:txBody>
          <a:bodyPr anchorCtr="0" anchor="ctr" bIns="91425" lIns="91425" spcFirstLastPara="1" rIns="91425" wrap="square" tIns="91425">
            <a:noAutofit/>
          </a:bodyPr>
          <a:lstStyle/>
          <a:p>
            <a:pPr indent="-304800" lvl="0" marL="457200" rtl="0" algn="l">
              <a:spcBef>
                <a:spcPts val="0"/>
              </a:spcBef>
              <a:spcAft>
                <a:spcPts val="0"/>
              </a:spcAft>
              <a:buClr>
                <a:schemeClr val="lt1"/>
              </a:buClr>
              <a:buSzPts val="1200"/>
              <a:buFont typeface="Cambria"/>
              <a:buChar char="●"/>
            </a:pPr>
            <a:r>
              <a:rPr lang="id" sz="1200">
                <a:solidFill>
                  <a:schemeClr val="lt1"/>
                </a:solidFill>
                <a:latin typeface="Cambria"/>
                <a:ea typeface="Cambria"/>
                <a:cs typeface="Cambria"/>
                <a:sym typeface="Cambria"/>
              </a:rPr>
              <a:t>Konsep pemasaran secara modern dikenalkan oleh Gautam Srivastava [1] menggunakan metode pengenalan ekspresi pada wajah pelanggan</a:t>
            </a:r>
            <a:endParaRPr sz="1200">
              <a:solidFill>
                <a:schemeClr val="lt1"/>
              </a:solidFill>
              <a:latin typeface="Cambria"/>
              <a:ea typeface="Cambria"/>
              <a:cs typeface="Cambria"/>
              <a:sym typeface="Cambria"/>
            </a:endParaRPr>
          </a:p>
        </p:txBody>
      </p:sp>
      <p:sp>
        <p:nvSpPr>
          <p:cNvPr id="94" name="Google Shape;94;p17"/>
          <p:cNvSpPr/>
          <p:nvPr/>
        </p:nvSpPr>
        <p:spPr>
          <a:xfrm>
            <a:off x="1335525" y="2240950"/>
            <a:ext cx="6655500" cy="889500"/>
          </a:xfrm>
          <a:prstGeom prst="roundRect">
            <a:avLst>
              <a:gd fmla="val 16667" name="adj"/>
            </a:avLst>
          </a:prstGeom>
          <a:solidFill>
            <a:srgbClr val="3C78D8"/>
          </a:solidFill>
          <a:ln cap="flat" cmpd="sng" w="9525">
            <a:solidFill>
              <a:srgbClr val="3C78D8"/>
            </a:solidFill>
            <a:prstDash val="solid"/>
            <a:round/>
            <a:headEnd len="sm" w="sm" type="none"/>
            <a:tailEnd len="sm" w="sm" type="none"/>
          </a:ln>
        </p:spPr>
        <p:txBody>
          <a:bodyPr anchorCtr="0" anchor="ctr" bIns="91425" lIns="91425" spcFirstLastPara="1" rIns="91425" wrap="square" tIns="91425">
            <a:noAutofit/>
          </a:bodyPr>
          <a:lstStyle/>
          <a:p>
            <a:pPr indent="-304800" lvl="0" marL="457200" rtl="0" algn="l">
              <a:spcBef>
                <a:spcPts val="0"/>
              </a:spcBef>
              <a:spcAft>
                <a:spcPts val="0"/>
              </a:spcAft>
              <a:buClr>
                <a:schemeClr val="lt1"/>
              </a:buClr>
              <a:buSzPts val="1200"/>
              <a:buFont typeface="Cambria"/>
              <a:buChar char="●"/>
            </a:pPr>
            <a:r>
              <a:rPr lang="id" sz="1200">
                <a:solidFill>
                  <a:schemeClr val="lt1"/>
                </a:solidFill>
                <a:latin typeface="Cambria"/>
                <a:ea typeface="Cambria"/>
                <a:cs typeface="Cambria"/>
                <a:sym typeface="Cambria"/>
              </a:rPr>
              <a:t>Pengembangan metode multilevel dalam pengenalan wajah yang dikarakterisasikan sebagai objek komposit yang diwakili oleh komponen-komponen utama seperti alis, mata, hidung, mulut, mata kanan, dll., sistem pengenalan wajah dapat direpresentasikan sebagai sistem multilayer [2]</a:t>
            </a:r>
            <a:endParaRPr sz="1200">
              <a:solidFill>
                <a:schemeClr val="lt1"/>
              </a:solidFill>
              <a:latin typeface="Cambria"/>
              <a:ea typeface="Cambria"/>
              <a:cs typeface="Cambria"/>
              <a:sym typeface="Cambria"/>
            </a:endParaRPr>
          </a:p>
        </p:txBody>
      </p:sp>
      <p:sp>
        <p:nvSpPr>
          <p:cNvPr id="95" name="Google Shape;95;p17"/>
          <p:cNvSpPr/>
          <p:nvPr/>
        </p:nvSpPr>
        <p:spPr>
          <a:xfrm>
            <a:off x="1897900" y="3233075"/>
            <a:ext cx="6710700" cy="540900"/>
          </a:xfrm>
          <a:prstGeom prst="roundRect">
            <a:avLst>
              <a:gd fmla="val 16667" name="adj"/>
            </a:avLst>
          </a:prstGeom>
          <a:solidFill>
            <a:srgbClr val="3C78D8"/>
          </a:solidFill>
          <a:ln cap="flat" cmpd="sng" w="9525">
            <a:solidFill>
              <a:srgbClr val="3C78D8"/>
            </a:solidFill>
            <a:prstDash val="solid"/>
            <a:round/>
            <a:headEnd len="sm" w="sm" type="none"/>
            <a:tailEnd len="sm" w="sm" type="none"/>
          </a:ln>
        </p:spPr>
        <p:txBody>
          <a:bodyPr anchorCtr="0" anchor="ctr" bIns="91425" lIns="91425" spcFirstLastPara="1" rIns="91425" wrap="square" tIns="91425">
            <a:noAutofit/>
          </a:bodyPr>
          <a:lstStyle/>
          <a:p>
            <a:pPr indent="-304800" lvl="0" marL="457200" rtl="0" algn="l">
              <a:spcBef>
                <a:spcPts val="0"/>
              </a:spcBef>
              <a:spcAft>
                <a:spcPts val="0"/>
              </a:spcAft>
              <a:buClr>
                <a:schemeClr val="lt1"/>
              </a:buClr>
              <a:buSzPts val="1200"/>
              <a:buFont typeface="Cambria"/>
              <a:buChar char="●"/>
            </a:pPr>
            <a:r>
              <a:rPr lang="id" sz="1200">
                <a:solidFill>
                  <a:schemeClr val="lt1"/>
                </a:solidFill>
                <a:latin typeface="Cambria"/>
                <a:ea typeface="Cambria"/>
                <a:cs typeface="Cambria"/>
                <a:sym typeface="Cambria"/>
              </a:rPr>
              <a:t>Konsep privasi data dikembangkan menggunakan metode face recognition menggunakan Federated learning method [3]</a:t>
            </a:r>
            <a:endParaRPr sz="1200">
              <a:solidFill>
                <a:schemeClr val="lt1"/>
              </a:solidFill>
              <a:latin typeface="Cambria"/>
              <a:ea typeface="Cambria"/>
              <a:cs typeface="Cambria"/>
              <a:sym typeface="Cambri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FEF"/>
        </a:solidFill>
      </p:bgPr>
    </p:bg>
    <p:spTree>
      <p:nvGrpSpPr>
        <p:cNvPr id="99" name="Shape 99"/>
        <p:cNvGrpSpPr/>
        <p:nvPr/>
      </p:nvGrpSpPr>
      <p:grpSpPr>
        <a:xfrm>
          <a:off x="0" y="0"/>
          <a:ext cx="0" cy="0"/>
          <a:chOff x="0" y="0"/>
          <a:chExt cx="0" cy="0"/>
        </a:xfrm>
      </p:grpSpPr>
      <p:sp>
        <p:nvSpPr>
          <p:cNvPr id="100" name="Google Shape;100;p18"/>
          <p:cNvSpPr/>
          <p:nvPr/>
        </p:nvSpPr>
        <p:spPr>
          <a:xfrm>
            <a:off x="0" y="4568875"/>
            <a:ext cx="9144000" cy="572700"/>
          </a:xfrm>
          <a:prstGeom prst="rect">
            <a:avLst/>
          </a:prstGeom>
          <a:solidFill>
            <a:srgbClr val="1C4587"/>
          </a:solidFill>
          <a:ln cap="flat" cmpd="sng" w="9525">
            <a:solidFill>
              <a:srgbClr val="9E73E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1" name="Google Shape;101;p18"/>
          <p:cNvSpPr/>
          <p:nvPr/>
        </p:nvSpPr>
        <p:spPr>
          <a:xfrm>
            <a:off x="397900" y="453100"/>
            <a:ext cx="4938300" cy="410100"/>
          </a:xfrm>
          <a:prstGeom prst="roundRect">
            <a:avLst>
              <a:gd fmla="val 50000" name="adj"/>
            </a:avLst>
          </a:prstGeom>
          <a:solidFill>
            <a:srgbClr val="3C78D8"/>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id">
                <a:solidFill>
                  <a:schemeClr val="lt1"/>
                </a:solidFill>
                <a:latin typeface="Inter ExtraBold"/>
                <a:ea typeface="Inter ExtraBold"/>
                <a:cs typeface="Inter ExtraBold"/>
                <a:sym typeface="Inter ExtraBold"/>
              </a:rPr>
              <a:t>Tren diverse applications of FR technology [4]</a:t>
            </a:r>
            <a:endParaRPr>
              <a:solidFill>
                <a:schemeClr val="lt1"/>
              </a:solidFill>
              <a:latin typeface="Inter ExtraBold"/>
              <a:ea typeface="Inter ExtraBold"/>
              <a:cs typeface="Inter ExtraBold"/>
              <a:sym typeface="Inter ExtraBold"/>
            </a:endParaRPr>
          </a:p>
        </p:txBody>
      </p:sp>
      <p:sp>
        <p:nvSpPr>
          <p:cNvPr id="102" name="Google Shape;102;p18"/>
          <p:cNvSpPr txBox="1"/>
          <p:nvPr>
            <p:ph idx="4294967295" type="title"/>
          </p:nvPr>
        </p:nvSpPr>
        <p:spPr>
          <a:xfrm>
            <a:off x="72650" y="4650188"/>
            <a:ext cx="4036500" cy="410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sz="1200">
                <a:solidFill>
                  <a:schemeClr val="lt1"/>
                </a:solidFill>
              </a:rPr>
              <a:t>Hinton’s Prophet - Project 1</a:t>
            </a:r>
            <a:endParaRPr sz="1200">
              <a:solidFill>
                <a:schemeClr val="lt1"/>
              </a:solidFill>
            </a:endParaRPr>
          </a:p>
        </p:txBody>
      </p:sp>
      <p:pic>
        <p:nvPicPr>
          <p:cNvPr id="103" name="Google Shape;103;p18"/>
          <p:cNvPicPr preferRelativeResize="0"/>
          <p:nvPr/>
        </p:nvPicPr>
        <p:blipFill>
          <a:blip r:embed="rId3">
            <a:alphaModFix/>
          </a:blip>
          <a:stretch>
            <a:fillRect/>
          </a:stretch>
        </p:blipFill>
        <p:spPr>
          <a:xfrm>
            <a:off x="7119853" y="4660139"/>
            <a:ext cx="1905651" cy="366100"/>
          </a:xfrm>
          <a:prstGeom prst="rect">
            <a:avLst/>
          </a:prstGeom>
          <a:noFill/>
          <a:ln>
            <a:noFill/>
          </a:ln>
        </p:spPr>
      </p:pic>
      <p:pic>
        <p:nvPicPr>
          <p:cNvPr id="104" name="Google Shape;104;p18"/>
          <p:cNvPicPr preferRelativeResize="0"/>
          <p:nvPr/>
        </p:nvPicPr>
        <p:blipFill>
          <a:blip r:embed="rId4">
            <a:alphaModFix/>
          </a:blip>
          <a:stretch>
            <a:fillRect/>
          </a:stretch>
        </p:blipFill>
        <p:spPr>
          <a:xfrm>
            <a:off x="577400" y="1061188"/>
            <a:ext cx="7908801" cy="32473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FEF"/>
        </a:solidFill>
      </p:bgPr>
    </p:bg>
    <p:spTree>
      <p:nvGrpSpPr>
        <p:cNvPr id="108" name="Shape 108"/>
        <p:cNvGrpSpPr/>
        <p:nvPr/>
      </p:nvGrpSpPr>
      <p:grpSpPr>
        <a:xfrm>
          <a:off x="0" y="0"/>
          <a:ext cx="0" cy="0"/>
          <a:chOff x="0" y="0"/>
          <a:chExt cx="0" cy="0"/>
        </a:xfrm>
      </p:grpSpPr>
      <p:sp>
        <p:nvSpPr>
          <p:cNvPr id="109" name="Google Shape;109;p19"/>
          <p:cNvSpPr/>
          <p:nvPr/>
        </p:nvSpPr>
        <p:spPr>
          <a:xfrm>
            <a:off x="0" y="4568875"/>
            <a:ext cx="9144000" cy="572700"/>
          </a:xfrm>
          <a:prstGeom prst="rect">
            <a:avLst/>
          </a:prstGeom>
          <a:solidFill>
            <a:srgbClr val="1C4587"/>
          </a:solidFill>
          <a:ln cap="flat" cmpd="sng" w="9525">
            <a:solidFill>
              <a:srgbClr val="9E73E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0" name="Google Shape;110;p19"/>
          <p:cNvSpPr/>
          <p:nvPr/>
        </p:nvSpPr>
        <p:spPr>
          <a:xfrm>
            <a:off x="397900" y="453100"/>
            <a:ext cx="2186400" cy="410100"/>
          </a:xfrm>
          <a:prstGeom prst="roundRect">
            <a:avLst>
              <a:gd fmla="val 50000" name="adj"/>
            </a:avLst>
          </a:prstGeom>
          <a:solidFill>
            <a:srgbClr val="3C78D8"/>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id">
                <a:solidFill>
                  <a:schemeClr val="lt1"/>
                </a:solidFill>
                <a:latin typeface="Inter ExtraBold"/>
                <a:ea typeface="Inter ExtraBold"/>
                <a:cs typeface="Inter ExtraBold"/>
                <a:sym typeface="Inter ExtraBold"/>
              </a:rPr>
              <a:t>Tools</a:t>
            </a:r>
            <a:endParaRPr>
              <a:solidFill>
                <a:schemeClr val="lt1"/>
              </a:solidFill>
              <a:latin typeface="Inter ExtraBold"/>
              <a:ea typeface="Inter ExtraBold"/>
              <a:cs typeface="Inter ExtraBold"/>
              <a:sym typeface="Inter ExtraBold"/>
            </a:endParaRPr>
          </a:p>
        </p:txBody>
      </p:sp>
      <p:sp>
        <p:nvSpPr>
          <p:cNvPr id="111" name="Google Shape;111;p19"/>
          <p:cNvSpPr txBox="1"/>
          <p:nvPr>
            <p:ph idx="4294967295" type="title"/>
          </p:nvPr>
        </p:nvSpPr>
        <p:spPr>
          <a:xfrm>
            <a:off x="72650" y="4650188"/>
            <a:ext cx="4036500" cy="410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sz="1200">
                <a:solidFill>
                  <a:schemeClr val="lt1"/>
                </a:solidFill>
              </a:rPr>
              <a:t>Hinton’s Prophet - Project 1</a:t>
            </a:r>
            <a:endParaRPr sz="1200">
              <a:solidFill>
                <a:schemeClr val="lt1"/>
              </a:solidFill>
            </a:endParaRPr>
          </a:p>
        </p:txBody>
      </p:sp>
      <p:pic>
        <p:nvPicPr>
          <p:cNvPr id="112" name="Google Shape;112;p19"/>
          <p:cNvPicPr preferRelativeResize="0"/>
          <p:nvPr/>
        </p:nvPicPr>
        <p:blipFill>
          <a:blip r:embed="rId3">
            <a:alphaModFix/>
          </a:blip>
          <a:stretch>
            <a:fillRect/>
          </a:stretch>
        </p:blipFill>
        <p:spPr>
          <a:xfrm>
            <a:off x="7119853" y="4660139"/>
            <a:ext cx="1905651" cy="366100"/>
          </a:xfrm>
          <a:prstGeom prst="rect">
            <a:avLst/>
          </a:prstGeom>
          <a:noFill/>
          <a:ln>
            <a:noFill/>
          </a:ln>
        </p:spPr>
      </p:pic>
      <p:pic>
        <p:nvPicPr>
          <p:cNvPr id="113" name="Google Shape;113;p19"/>
          <p:cNvPicPr preferRelativeResize="0"/>
          <p:nvPr/>
        </p:nvPicPr>
        <p:blipFill>
          <a:blip r:embed="rId4">
            <a:alphaModFix/>
          </a:blip>
          <a:stretch>
            <a:fillRect/>
          </a:stretch>
        </p:blipFill>
        <p:spPr>
          <a:xfrm>
            <a:off x="397900" y="1790851"/>
            <a:ext cx="1171629" cy="1201034"/>
          </a:xfrm>
          <a:prstGeom prst="rect">
            <a:avLst/>
          </a:prstGeom>
          <a:noFill/>
          <a:ln>
            <a:noFill/>
          </a:ln>
        </p:spPr>
      </p:pic>
      <p:pic>
        <p:nvPicPr>
          <p:cNvPr id="114" name="Google Shape;114;p19"/>
          <p:cNvPicPr preferRelativeResize="0"/>
          <p:nvPr/>
        </p:nvPicPr>
        <p:blipFill>
          <a:blip r:embed="rId5">
            <a:alphaModFix/>
          </a:blip>
          <a:stretch>
            <a:fillRect/>
          </a:stretch>
        </p:blipFill>
        <p:spPr>
          <a:xfrm>
            <a:off x="1604077" y="1699505"/>
            <a:ext cx="1349850" cy="1383727"/>
          </a:xfrm>
          <a:prstGeom prst="rect">
            <a:avLst/>
          </a:prstGeom>
          <a:noFill/>
          <a:ln>
            <a:noFill/>
          </a:ln>
        </p:spPr>
      </p:pic>
      <p:pic>
        <p:nvPicPr>
          <p:cNvPr id="115" name="Google Shape;115;p19"/>
          <p:cNvPicPr preferRelativeResize="0"/>
          <p:nvPr/>
        </p:nvPicPr>
        <p:blipFill rotWithShape="1">
          <a:blip r:embed="rId6">
            <a:alphaModFix/>
          </a:blip>
          <a:srcRect b="0" l="25134" r="24274" t="0"/>
          <a:stretch/>
        </p:blipFill>
        <p:spPr>
          <a:xfrm>
            <a:off x="3037701" y="1765783"/>
            <a:ext cx="1234983" cy="1251171"/>
          </a:xfrm>
          <a:prstGeom prst="rect">
            <a:avLst/>
          </a:prstGeom>
          <a:noFill/>
          <a:ln>
            <a:noFill/>
          </a:ln>
        </p:spPr>
      </p:pic>
      <p:pic>
        <p:nvPicPr>
          <p:cNvPr id="116" name="Google Shape;116;p19"/>
          <p:cNvPicPr preferRelativeResize="0"/>
          <p:nvPr/>
        </p:nvPicPr>
        <p:blipFill>
          <a:blip r:embed="rId7">
            <a:alphaModFix/>
          </a:blip>
          <a:stretch>
            <a:fillRect/>
          </a:stretch>
        </p:blipFill>
        <p:spPr>
          <a:xfrm>
            <a:off x="4388229" y="1445225"/>
            <a:ext cx="1630846" cy="1671775"/>
          </a:xfrm>
          <a:prstGeom prst="rect">
            <a:avLst/>
          </a:prstGeom>
          <a:noFill/>
          <a:ln>
            <a:noFill/>
          </a:ln>
        </p:spPr>
      </p:pic>
      <p:pic>
        <p:nvPicPr>
          <p:cNvPr id="117" name="Google Shape;117;p19"/>
          <p:cNvPicPr preferRelativeResize="0"/>
          <p:nvPr/>
        </p:nvPicPr>
        <p:blipFill rotWithShape="1">
          <a:blip r:embed="rId8">
            <a:alphaModFix/>
          </a:blip>
          <a:srcRect b="0" l="0" r="69984" t="0"/>
          <a:stretch/>
        </p:blipFill>
        <p:spPr>
          <a:xfrm>
            <a:off x="6185499" y="1844935"/>
            <a:ext cx="1050750" cy="1040688"/>
          </a:xfrm>
          <a:prstGeom prst="rect">
            <a:avLst/>
          </a:prstGeom>
          <a:noFill/>
          <a:ln>
            <a:noFill/>
          </a:ln>
        </p:spPr>
      </p:pic>
      <p:pic>
        <p:nvPicPr>
          <p:cNvPr id="118" name="Google Shape;118;p19"/>
          <p:cNvPicPr preferRelativeResize="0"/>
          <p:nvPr/>
        </p:nvPicPr>
        <p:blipFill>
          <a:blip r:embed="rId9">
            <a:alphaModFix/>
          </a:blip>
          <a:stretch>
            <a:fillRect/>
          </a:stretch>
        </p:blipFill>
        <p:spPr>
          <a:xfrm flipH="1">
            <a:off x="7392800" y="1739688"/>
            <a:ext cx="1251175" cy="12511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FEF"/>
        </a:solidFill>
      </p:bgPr>
    </p:bg>
    <p:spTree>
      <p:nvGrpSpPr>
        <p:cNvPr id="122" name="Shape 122"/>
        <p:cNvGrpSpPr/>
        <p:nvPr/>
      </p:nvGrpSpPr>
      <p:grpSpPr>
        <a:xfrm>
          <a:off x="0" y="0"/>
          <a:ext cx="0" cy="0"/>
          <a:chOff x="0" y="0"/>
          <a:chExt cx="0" cy="0"/>
        </a:xfrm>
      </p:grpSpPr>
      <p:sp>
        <p:nvSpPr>
          <p:cNvPr id="123" name="Google Shape;123;p20"/>
          <p:cNvSpPr/>
          <p:nvPr/>
        </p:nvSpPr>
        <p:spPr>
          <a:xfrm>
            <a:off x="0" y="4568875"/>
            <a:ext cx="9144000" cy="572700"/>
          </a:xfrm>
          <a:prstGeom prst="rect">
            <a:avLst/>
          </a:prstGeom>
          <a:solidFill>
            <a:srgbClr val="1C4587"/>
          </a:solidFill>
          <a:ln cap="flat" cmpd="sng" w="9525">
            <a:solidFill>
              <a:srgbClr val="9E73E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4" name="Google Shape;124;p20"/>
          <p:cNvSpPr/>
          <p:nvPr/>
        </p:nvSpPr>
        <p:spPr>
          <a:xfrm>
            <a:off x="397900" y="453100"/>
            <a:ext cx="2186400" cy="410100"/>
          </a:xfrm>
          <a:prstGeom prst="roundRect">
            <a:avLst>
              <a:gd fmla="val 50000" name="adj"/>
            </a:avLst>
          </a:prstGeom>
          <a:solidFill>
            <a:srgbClr val="3C78D8"/>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id">
                <a:solidFill>
                  <a:schemeClr val="lt1"/>
                </a:solidFill>
                <a:latin typeface="Inter ExtraBold"/>
                <a:ea typeface="Inter ExtraBold"/>
                <a:cs typeface="Inter ExtraBold"/>
                <a:sym typeface="Inter ExtraBold"/>
              </a:rPr>
              <a:t>Data Understanding</a:t>
            </a:r>
            <a:endParaRPr>
              <a:solidFill>
                <a:schemeClr val="lt1"/>
              </a:solidFill>
              <a:latin typeface="Inter ExtraBold"/>
              <a:ea typeface="Inter ExtraBold"/>
              <a:cs typeface="Inter ExtraBold"/>
              <a:sym typeface="Inter ExtraBold"/>
            </a:endParaRPr>
          </a:p>
        </p:txBody>
      </p:sp>
      <p:sp>
        <p:nvSpPr>
          <p:cNvPr id="125" name="Google Shape;125;p20"/>
          <p:cNvSpPr txBox="1"/>
          <p:nvPr>
            <p:ph idx="4294967295" type="title"/>
          </p:nvPr>
        </p:nvSpPr>
        <p:spPr>
          <a:xfrm>
            <a:off x="72650" y="4650188"/>
            <a:ext cx="4036500" cy="410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sz="1200">
                <a:solidFill>
                  <a:schemeClr val="lt1"/>
                </a:solidFill>
              </a:rPr>
              <a:t>Hinton’s Prophet - Project 1</a:t>
            </a:r>
            <a:endParaRPr sz="1200">
              <a:solidFill>
                <a:schemeClr val="lt1"/>
              </a:solidFill>
            </a:endParaRPr>
          </a:p>
        </p:txBody>
      </p:sp>
      <p:pic>
        <p:nvPicPr>
          <p:cNvPr id="126" name="Google Shape;126;p20"/>
          <p:cNvPicPr preferRelativeResize="0"/>
          <p:nvPr/>
        </p:nvPicPr>
        <p:blipFill>
          <a:blip r:embed="rId3">
            <a:alphaModFix/>
          </a:blip>
          <a:stretch>
            <a:fillRect/>
          </a:stretch>
        </p:blipFill>
        <p:spPr>
          <a:xfrm>
            <a:off x="7119853" y="4660139"/>
            <a:ext cx="1905651" cy="366100"/>
          </a:xfrm>
          <a:prstGeom prst="rect">
            <a:avLst/>
          </a:prstGeom>
          <a:noFill/>
          <a:ln>
            <a:noFill/>
          </a:ln>
        </p:spPr>
      </p:pic>
      <p:pic>
        <p:nvPicPr>
          <p:cNvPr id="127" name="Google Shape;127;p20"/>
          <p:cNvPicPr preferRelativeResize="0"/>
          <p:nvPr/>
        </p:nvPicPr>
        <p:blipFill>
          <a:blip r:embed="rId4">
            <a:alphaModFix amt="16000"/>
          </a:blip>
          <a:stretch>
            <a:fillRect/>
          </a:stretch>
        </p:blipFill>
        <p:spPr>
          <a:xfrm>
            <a:off x="3332147" y="-86150"/>
            <a:ext cx="7507203" cy="4660151"/>
          </a:xfrm>
          <a:prstGeom prst="rect">
            <a:avLst/>
          </a:prstGeom>
          <a:noFill/>
          <a:ln>
            <a:noFill/>
          </a:ln>
        </p:spPr>
      </p:pic>
      <p:sp>
        <p:nvSpPr>
          <p:cNvPr id="128" name="Google Shape;128;p20"/>
          <p:cNvSpPr txBox="1"/>
          <p:nvPr/>
        </p:nvSpPr>
        <p:spPr>
          <a:xfrm>
            <a:off x="3173950" y="3506600"/>
            <a:ext cx="5887200" cy="1143600"/>
          </a:xfrm>
          <a:prstGeom prst="rect">
            <a:avLst/>
          </a:prstGeom>
          <a:noFill/>
          <a:ln>
            <a:noFill/>
          </a:ln>
        </p:spPr>
        <p:txBody>
          <a:bodyPr anchorCtr="0" anchor="t" bIns="91425" lIns="91425" spcFirstLastPara="1" rIns="91425" wrap="square" tIns="91425">
            <a:spAutoFit/>
          </a:bodyPr>
          <a:lstStyle/>
          <a:p>
            <a:pPr indent="0" lvl="0" marL="0" rtl="0" algn="r">
              <a:lnSpc>
                <a:spcPct val="115000"/>
              </a:lnSpc>
              <a:spcBef>
                <a:spcPts val="0"/>
              </a:spcBef>
              <a:spcAft>
                <a:spcPts val="0"/>
              </a:spcAft>
              <a:buNone/>
            </a:pPr>
            <a:r>
              <a:rPr lang="id">
                <a:solidFill>
                  <a:schemeClr val="dk1"/>
                </a:solidFill>
                <a:latin typeface="Cambria"/>
                <a:ea typeface="Cambria"/>
                <a:cs typeface="Cambria"/>
                <a:sym typeface="Cambria"/>
              </a:rPr>
              <a:t>Using The CelebA</a:t>
            </a:r>
            <a:r>
              <a:rPr b="1" lang="id">
                <a:solidFill>
                  <a:schemeClr val="dk1"/>
                </a:solidFill>
                <a:latin typeface="Cambria"/>
                <a:ea typeface="Cambria"/>
                <a:cs typeface="Cambria"/>
                <a:sym typeface="Cambria"/>
              </a:rPr>
              <a:t> </a:t>
            </a:r>
            <a:r>
              <a:rPr lang="id">
                <a:solidFill>
                  <a:schemeClr val="dk1"/>
                </a:solidFill>
                <a:latin typeface="Cambria"/>
                <a:ea typeface="Cambria"/>
                <a:cs typeface="Cambria"/>
                <a:sym typeface="Cambria"/>
              </a:rPr>
              <a:t>dataset, a large-scale facial attributes dataset widely used in computer vision and machine learning tasks, accessed via </a:t>
            </a:r>
            <a:r>
              <a:rPr lang="id" u="sng">
                <a:solidFill>
                  <a:schemeClr val="hlink"/>
                </a:solidFill>
                <a:latin typeface="Cambria"/>
                <a:ea typeface="Cambria"/>
                <a:cs typeface="Cambria"/>
                <a:sym typeface="Cambria"/>
                <a:hlinkClick r:id="rId5"/>
              </a:rPr>
              <a:t>https://mmlab.ie.cuhk.edu.hk/projects/CelebA.html</a:t>
            </a:r>
            <a:endParaRPr>
              <a:solidFill>
                <a:schemeClr val="dk1"/>
              </a:solidFill>
              <a:latin typeface="Cambria"/>
              <a:ea typeface="Cambria"/>
              <a:cs typeface="Cambria"/>
              <a:sym typeface="Cambria"/>
            </a:endParaRPr>
          </a:p>
          <a:p>
            <a:pPr indent="0" lvl="0" marL="0" rtl="0" algn="r">
              <a:lnSpc>
                <a:spcPct val="115000"/>
              </a:lnSpc>
              <a:spcBef>
                <a:spcPts val="0"/>
              </a:spcBef>
              <a:spcAft>
                <a:spcPts val="0"/>
              </a:spcAft>
              <a:buNone/>
            </a:pPr>
            <a:r>
              <a:t/>
            </a:r>
            <a:endParaRPr>
              <a:solidFill>
                <a:schemeClr val="dk1"/>
              </a:solidFill>
              <a:latin typeface="Cambria"/>
              <a:ea typeface="Cambria"/>
              <a:cs typeface="Cambria"/>
              <a:sym typeface="Cambria"/>
            </a:endParaRPr>
          </a:p>
        </p:txBody>
      </p:sp>
      <p:sp>
        <p:nvSpPr>
          <p:cNvPr id="129" name="Google Shape;129;p20"/>
          <p:cNvSpPr txBox="1"/>
          <p:nvPr/>
        </p:nvSpPr>
        <p:spPr>
          <a:xfrm>
            <a:off x="397900" y="954150"/>
            <a:ext cx="2715300" cy="3570900"/>
          </a:xfrm>
          <a:prstGeom prst="rect">
            <a:avLst/>
          </a:prstGeom>
          <a:noFill/>
          <a:ln>
            <a:noFill/>
          </a:ln>
        </p:spPr>
        <p:txBody>
          <a:bodyPr anchorCtr="0" anchor="t" bIns="91425" lIns="91425" spcFirstLastPara="1" rIns="91425" wrap="square" tIns="91425">
            <a:spAutoFit/>
          </a:bodyPr>
          <a:lstStyle/>
          <a:p>
            <a:pPr indent="-292100" lvl="0" marL="457200" rtl="0" algn="just">
              <a:spcBef>
                <a:spcPts val="0"/>
              </a:spcBef>
              <a:spcAft>
                <a:spcPts val="0"/>
              </a:spcAft>
              <a:buClr>
                <a:schemeClr val="dk1"/>
              </a:buClr>
              <a:buSzPts val="1000"/>
              <a:buChar char="●"/>
            </a:pPr>
            <a:r>
              <a:rPr b="1" lang="id" sz="1000">
                <a:solidFill>
                  <a:schemeClr val="dk1"/>
                </a:solidFill>
              </a:rPr>
              <a:t>Ukuran dan Variasi</a:t>
            </a:r>
            <a:r>
              <a:rPr lang="id" sz="1000">
                <a:solidFill>
                  <a:schemeClr val="dk1"/>
                </a:solidFill>
              </a:rPr>
              <a:t>: Terdiri dari 202.599 gambar wajah dengan </a:t>
            </a:r>
            <a:r>
              <a:rPr lang="id" sz="1000">
                <a:solidFill>
                  <a:schemeClr val="dk1"/>
                </a:solidFill>
              </a:rPr>
              <a:t>berbagai</a:t>
            </a:r>
            <a:r>
              <a:rPr lang="id" sz="1000">
                <a:solidFill>
                  <a:schemeClr val="dk1"/>
                </a:solidFill>
              </a:rPr>
              <a:t> atribut seperti jenis kelamin, kacamata, senyuman, dan gaya rambut.</a:t>
            </a:r>
            <a:endParaRPr sz="1000">
              <a:solidFill>
                <a:schemeClr val="dk1"/>
              </a:solidFill>
            </a:endParaRPr>
          </a:p>
          <a:p>
            <a:pPr indent="-292100" lvl="0" marL="457200" rtl="0" algn="just">
              <a:spcBef>
                <a:spcPts val="0"/>
              </a:spcBef>
              <a:spcAft>
                <a:spcPts val="0"/>
              </a:spcAft>
              <a:buClr>
                <a:schemeClr val="dk1"/>
              </a:buClr>
              <a:buSzPts val="1000"/>
              <a:buChar char="●"/>
            </a:pPr>
            <a:r>
              <a:rPr b="1" lang="id" sz="1000">
                <a:solidFill>
                  <a:schemeClr val="dk1"/>
                </a:solidFill>
              </a:rPr>
              <a:t>Anotasi Atribut</a:t>
            </a:r>
            <a:r>
              <a:rPr lang="id" sz="1000">
                <a:solidFill>
                  <a:schemeClr val="dk1"/>
                </a:solidFill>
              </a:rPr>
              <a:t>: Memiliki 40 atribut biner yang mencakup berbagai karakteristik visual, seperti "berkacamata", "berjenggot", "tersenyum", dll.</a:t>
            </a:r>
            <a:endParaRPr sz="1000">
              <a:solidFill>
                <a:schemeClr val="dk1"/>
              </a:solidFill>
            </a:endParaRPr>
          </a:p>
          <a:p>
            <a:pPr indent="-292100" lvl="0" marL="457200" rtl="0" algn="just">
              <a:spcBef>
                <a:spcPts val="0"/>
              </a:spcBef>
              <a:spcAft>
                <a:spcPts val="0"/>
              </a:spcAft>
              <a:buClr>
                <a:schemeClr val="dk1"/>
              </a:buClr>
              <a:buSzPts val="1000"/>
              <a:buChar char="●"/>
            </a:pPr>
            <a:r>
              <a:rPr b="1" lang="id" sz="1000">
                <a:solidFill>
                  <a:schemeClr val="dk1"/>
                </a:solidFill>
              </a:rPr>
              <a:t>Label Bounding Box</a:t>
            </a:r>
            <a:r>
              <a:rPr lang="id" sz="1000">
                <a:solidFill>
                  <a:schemeClr val="dk1"/>
                </a:solidFill>
              </a:rPr>
              <a:t>: Menyediakan informasi bounding box untuk deteksi wajah.</a:t>
            </a:r>
            <a:endParaRPr sz="1000">
              <a:solidFill>
                <a:schemeClr val="dk1"/>
              </a:solidFill>
            </a:endParaRPr>
          </a:p>
          <a:p>
            <a:pPr indent="-292100" lvl="0" marL="457200" rtl="0" algn="just">
              <a:spcBef>
                <a:spcPts val="0"/>
              </a:spcBef>
              <a:spcAft>
                <a:spcPts val="0"/>
              </a:spcAft>
              <a:buClr>
                <a:schemeClr val="dk1"/>
              </a:buClr>
              <a:buSzPts val="1000"/>
              <a:buChar char="●"/>
            </a:pPr>
            <a:r>
              <a:rPr b="1" lang="id" sz="1000">
                <a:solidFill>
                  <a:schemeClr val="dk1"/>
                </a:solidFill>
              </a:rPr>
              <a:t>Landmark Wajah</a:t>
            </a:r>
            <a:r>
              <a:rPr lang="id" sz="1000">
                <a:solidFill>
                  <a:schemeClr val="dk1"/>
                </a:solidFill>
              </a:rPr>
              <a:t>: Termasuk 5 landmark kunci (mata, hidung, dan mulut) yang berguna untuk tugas seperti pengenalan wajah dan pelacakan</a:t>
            </a:r>
            <a:endParaRPr sz="1000">
              <a:solidFill>
                <a:schemeClr val="dk1"/>
              </a:solidFill>
            </a:endParaRPr>
          </a:p>
          <a:p>
            <a:pPr indent="0" lvl="0" marL="0" rtl="0" algn="just">
              <a:spcBef>
                <a:spcPts val="0"/>
              </a:spcBef>
              <a:spcAft>
                <a:spcPts val="0"/>
              </a:spcAft>
              <a:buNone/>
            </a:pPr>
            <a:r>
              <a:t/>
            </a:r>
            <a:endParaRPr sz="1000">
              <a:solidFill>
                <a:schemeClr val="dk1"/>
              </a:solidFill>
            </a:endParaRPr>
          </a:p>
          <a:p>
            <a:pPr indent="0" lvl="0" marL="0" rtl="0" algn="just">
              <a:spcBef>
                <a:spcPts val="0"/>
              </a:spcBef>
              <a:spcAft>
                <a:spcPts val="0"/>
              </a:spcAft>
              <a:buNone/>
            </a:pPr>
            <a:r>
              <a:rPr lang="id" sz="1000">
                <a:solidFill>
                  <a:schemeClr val="dk1"/>
                </a:solidFill>
              </a:rPr>
              <a:t>Pada studi kasus Portofolio Project ini yang digunakan adalah 5000 images dengan atribut Male</a:t>
            </a:r>
            <a:endParaRPr sz="100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FEF"/>
        </a:solidFill>
      </p:bgPr>
    </p:bg>
    <p:spTree>
      <p:nvGrpSpPr>
        <p:cNvPr id="133" name="Shape 133"/>
        <p:cNvGrpSpPr/>
        <p:nvPr/>
      </p:nvGrpSpPr>
      <p:grpSpPr>
        <a:xfrm>
          <a:off x="0" y="0"/>
          <a:ext cx="0" cy="0"/>
          <a:chOff x="0" y="0"/>
          <a:chExt cx="0" cy="0"/>
        </a:xfrm>
      </p:grpSpPr>
      <p:sp>
        <p:nvSpPr>
          <p:cNvPr id="134" name="Google Shape;134;p21"/>
          <p:cNvSpPr/>
          <p:nvPr/>
        </p:nvSpPr>
        <p:spPr>
          <a:xfrm>
            <a:off x="0" y="4568875"/>
            <a:ext cx="9144000" cy="572700"/>
          </a:xfrm>
          <a:prstGeom prst="rect">
            <a:avLst/>
          </a:prstGeom>
          <a:solidFill>
            <a:srgbClr val="1C4587"/>
          </a:solidFill>
          <a:ln cap="flat" cmpd="sng" w="9525">
            <a:solidFill>
              <a:srgbClr val="9E73E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5" name="Google Shape;135;p21"/>
          <p:cNvSpPr/>
          <p:nvPr/>
        </p:nvSpPr>
        <p:spPr>
          <a:xfrm>
            <a:off x="397900" y="453100"/>
            <a:ext cx="4036500" cy="410100"/>
          </a:xfrm>
          <a:prstGeom prst="roundRect">
            <a:avLst>
              <a:gd fmla="val 50000" name="adj"/>
            </a:avLst>
          </a:prstGeom>
          <a:solidFill>
            <a:srgbClr val="3C78D8"/>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id">
                <a:solidFill>
                  <a:schemeClr val="lt1"/>
                </a:solidFill>
                <a:latin typeface="Inter ExtraBold"/>
                <a:ea typeface="Inter ExtraBold"/>
                <a:cs typeface="Inter ExtraBold"/>
                <a:sym typeface="Inter ExtraBold"/>
              </a:rPr>
              <a:t>Data Preparation - Detect Duplication</a:t>
            </a:r>
            <a:endParaRPr>
              <a:solidFill>
                <a:schemeClr val="lt1"/>
              </a:solidFill>
              <a:latin typeface="Inter ExtraBold"/>
              <a:ea typeface="Inter ExtraBold"/>
              <a:cs typeface="Inter ExtraBold"/>
              <a:sym typeface="Inter ExtraBold"/>
            </a:endParaRPr>
          </a:p>
        </p:txBody>
      </p:sp>
      <p:sp>
        <p:nvSpPr>
          <p:cNvPr id="136" name="Google Shape;136;p21"/>
          <p:cNvSpPr txBox="1"/>
          <p:nvPr>
            <p:ph idx="4294967295" type="title"/>
          </p:nvPr>
        </p:nvSpPr>
        <p:spPr>
          <a:xfrm>
            <a:off x="72650" y="4650188"/>
            <a:ext cx="4036500" cy="410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sz="1200">
                <a:solidFill>
                  <a:schemeClr val="lt1"/>
                </a:solidFill>
              </a:rPr>
              <a:t>Hinton’s Prophet - Project 1</a:t>
            </a:r>
            <a:endParaRPr sz="1200">
              <a:solidFill>
                <a:schemeClr val="lt1"/>
              </a:solidFill>
            </a:endParaRPr>
          </a:p>
        </p:txBody>
      </p:sp>
      <p:pic>
        <p:nvPicPr>
          <p:cNvPr id="137" name="Google Shape;137;p21"/>
          <p:cNvPicPr preferRelativeResize="0"/>
          <p:nvPr/>
        </p:nvPicPr>
        <p:blipFill>
          <a:blip r:embed="rId3">
            <a:alphaModFix/>
          </a:blip>
          <a:stretch>
            <a:fillRect/>
          </a:stretch>
        </p:blipFill>
        <p:spPr>
          <a:xfrm>
            <a:off x="7119853" y="4660139"/>
            <a:ext cx="1905651" cy="366100"/>
          </a:xfrm>
          <a:prstGeom prst="rect">
            <a:avLst/>
          </a:prstGeom>
          <a:noFill/>
          <a:ln>
            <a:noFill/>
          </a:ln>
        </p:spPr>
      </p:pic>
      <p:pic>
        <p:nvPicPr>
          <p:cNvPr id="138" name="Google Shape;138;p21"/>
          <p:cNvPicPr preferRelativeResize="0"/>
          <p:nvPr/>
        </p:nvPicPr>
        <p:blipFill>
          <a:blip r:embed="rId4">
            <a:alphaModFix/>
          </a:blip>
          <a:stretch>
            <a:fillRect/>
          </a:stretch>
        </p:blipFill>
        <p:spPr>
          <a:xfrm>
            <a:off x="763500" y="2221787"/>
            <a:ext cx="2332124" cy="2214799"/>
          </a:xfrm>
          <a:prstGeom prst="rect">
            <a:avLst/>
          </a:prstGeom>
          <a:noFill/>
          <a:ln>
            <a:noFill/>
          </a:ln>
        </p:spPr>
      </p:pic>
      <p:pic>
        <p:nvPicPr>
          <p:cNvPr id="139" name="Google Shape;139;p21"/>
          <p:cNvPicPr preferRelativeResize="0"/>
          <p:nvPr/>
        </p:nvPicPr>
        <p:blipFill>
          <a:blip r:embed="rId5">
            <a:alphaModFix/>
          </a:blip>
          <a:stretch>
            <a:fillRect/>
          </a:stretch>
        </p:blipFill>
        <p:spPr>
          <a:xfrm>
            <a:off x="3930751" y="2367750"/>
            <a:ext cx="4791476" cy="1282125"/>
          </a:xfrm>
          <a:prstGeom prst="rect">
            <a:avLst/>
          </a:prstGeom>
          <a:noFill/>
          <a:ln>
            <a:noFill/>
          </a:ln>
        </p:spPr>
      </p:pic>
      <p:pic>
        <p:nvPicPr>
          <p:cNvPr id="140" name="Google Shape;140;p21"/>
          <p:cNvPicPr preferRelativeResize="0"/>
          <p:nvPr/>
        </p:nvPicPr>
        <p:blipFill>
          <a:blip r:embed="rId6">
            <a:alphaModFix/>
          </a:blip>
          <a:stretch>
            <a:fillRect/>
          </a:stretch>
        </p:blipFill>
        <p:spPr>
          <a:xfrm>
            <a:off x="3902000" y="1061612"/>
            <a:ext cx="4951017" cy="1160175"/>
          </a:xfrm>
          <a:prstGeom prst="rect">
            <a:avLst/>
          </a:prstGeom>
          <a:noFill/>
          <a:ln>
            <a:noFill/>
          </a:ln>
        </p:spPr>
      </p:pic>
      <p:sp>
        <p:nvSpPr>
          <p:cNvPr id="141" name="Google Shape;141;p21"/>
          <p:cNvSpPr txBox="1"/>
          <p:nvPr/>
        </p:nvSpPr>
        <p:spPr>
          <a:xfrm>
            <a:off x="632150" y="987638"/>
            <a:ext cx="3170700" cy="12621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id" sz="1000">
                <a:solidFill>
                  <a:schemeClr val="dk1"/>
                </a:solidFill>
              </a:rPr>
              <a:t>Salah satu tantangan yang sering dihadapi dalam proses pelatihan model adalah adanya data duplikat, yang dapat mengarah pada bias model dan performa yang kurang baik. Oleh karena itu, </a:t>
            </a:r>
            <a:r>
              <a:rPr b="1" lang="id" sz="1000">
                <a:solidFill>
                  <a:schemeClr val="dk1"/>
                </a:solidFill>
              </a:rPr>
              <a:t>duplicate detection</a:t>
            </a:r>
            <a:r>
              <a:rPr lang="id" sz="1000">
                <a:solidFill>
                  <a:schemeClr val="dk1"/>
                </a:solidFill>
              </a:rPr>
              <a:t> atau deteksi duplikasi menjadi langkah esensial dalam preprocessing data guna memastikan model bekerja secara optimal dan adi</a:t>
            </a:r>
            <a:endParaRPr sz="13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FEF"/>
        </a:solidFill>
      </p:bgPr>
    </p:bg>
    <p:spTree>
      <p:nvGrpSpPr>
        <p:cNvPr id="145" name="Shape 145"/>
        <p:cNvGrpSpPr/>
        <p:nvPr/>
      </p:nvGrpSpPr>
      <p:grpSpPr>
        <a:xfrm>
          <a:off x="0" y="0"/>
          <a:ext cx="0" cy="0"/>
          <a:chOff x="0" y="0"/>
          <a:chExt cx="0" cy="0"/>
        </a:xfrm>
      </p:grpSpPr>
      <p:sp>
        <p:nvSpPr>
          <p:cNvPr id="146" name="Google Shape;146;p22"/>
          <p:cNvSpPr/>
          <p:nvPr/>
        </p:nvSpPr>
        <p:spPr>
          <a:xfrm>
            <a:off x="0" y="4568875"/>
            <a:ext cx="9144000" cy="572700"/>
          </a:xfrm>
          <a:prstGeom prst="rect">
            <a:avLst/>
          </a:prstGeom>
          <a:solidFill>
            <a:srgbClr val="1C4587"/>
          </a:solidFill>
          <a:ln cap="flat" cmpd="sng" w="9525">
            <a:solidFill>
              <a:srgbClr val="9E73E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7" name="Google Shape;147;p22"/>
          <p:cNvSpPr/>
          <p:nvPr/>
        </p:nvSpPr>
        <p:spPr>
          <a:xfrm>
            <a:off x="397900" y="453100"/>
            <a:ext cx="4913400" cy="410100"/>
          </a:xfrm>
          <a:prstGeom prst="roundRect">
            <a:avLst>
              <a:gd fmla="val 50000" name="adj"/>
            </a:avLst>
          </a:prstGeom>
          <a:solidFill>
            <a:srgbClr val="3C78D8"/>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id">
                <a:solidFill>
                  <a:schemeClr val="lt1"/>
                </a:solidFill>
                <a:latin typeface="Inter ExtraBold"/>
                <a:ea typeface="Inter ExtraBold"/>
                <a:cs typeface="Inter ExtraBold"/>
                <a:sym typeface="Inter ExtraBold"/>
              </a:rPr>
              <a:t>Data Preparation - Mapping </a:t>
            </a:r>
            <a:r>
              <a:rPr lang="id">
                <a:solidFill>
                  <a:schemeClr val="lt1"/>
                </a:solidFill>
                <a:latin typeface="Inter ExtraBold"/>
                <a:ea typeface="Inter ExtraBold"/>
                <a:cs typeface="Inter ExtraBold"/>
                <a:sym typeface="Inter ExtraBold"/>
              </a:rPr>
              <a:t>Available</a:t>
            </a:r>
            <a:r>
              <a:rPr lang="id">
                <a:solidFill>
                  <a:schemeClr val="lt1"/>
                </a:solidFill>
                <a:latin typeface="Inter ExtraBold"/>
                <a:ea typeface="Inter ExtraBold"/>
                <a:cs typeface="Inter ExtraBold"/>
                <a:sym typeface="Inter ExtraBold"/>
              </a:rPr>
              <a:t> Image Class</a:t>
            </a:r>
            <a:endParaRPr>
              <a:solidFill>
                <a:schemeClr val="lt1"/>
              </a:solidFill>
              <a:latin typeface="Inter ExtraBold"/>
              <a:ea typeface="Inter ExtraBold"/>
              <a:cs typeface="Inter ExtraBold"/>
              <a:sym typeface="Inter ExtraBold"/>
            </a:endParaRPr>
          </a:p>
        </p:txBody>
      </p:sp>
      <p:sp>
        <p:nvSpPr>
          <p:cNvPr id="148" name="Google Shape;148;p22"/>
          <p:cNvSpPr txBox="1"/>
          <p:nvPr>
            <p:ph idx="4294967295" type="title"/>
          </p:nvPr>
        </p:nvSpPr>
        <p:spPr>
          <a:xfrm>
            <a:off x="72650" y="4650188"/>
            <a:ext cx="4036500" cy="410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sz="1200">
                <a:solidFill>
                  <a:schemeClr val="lt1"/>
                </a:solidFill>
              </a:rPr>
              <a:t>Hinton’s Prophet - Project 1</a:t>
            </a:r>
            <a:endParaRPr sz="1200">
              <a:solidFill>
                <a:schemeClr val="lt1"/>
              </a:solidFill>
            </a:endParaRPr>
          </a:p>
        </p:txBody>
      </p:sp>
      <p:pic>
        <p:nvPicPr>
          <p:cNvPr id="149" name="Google Shape;149;p22"/>
          <p:cNvPicPr preferRelativeResize="0"/>
          <p:nvPr/>
        </p:nvPicPr>
        <p:blipFill>
          <a:blip r:embed="rId3">
            <a:alphaModFix/>
          </a:blip>
          <a:stretch>
            <a:fillRect/>
          </a:stretch>
        </p:blipFill>
        <p:spPr>
          <a:xfrm>
            <a:off x="7119853" y="4660139"/>
            <a:ext cx="1905651" cy="366100"/>
          </a:xfrm>
          <a:prstGeom prst="rect">
            <a:avLst/>
          </a:prstGeom>
          <a:noFill/>
          <a:ln>
            <a:noFill/>
          </a:ln>
        </p:spPr>
      </p:pic>
      <p:pic>
        <p:nvPicPr>
          <p:cNvPr id="150" name="Google Shape;150;p22"/>
          <p:cNvPicPr preferRelativeResize="0"/>
          <p:nvPr/>
        </p:nvPicPr>
        <p:blipFill>
          <a:blip r:embed="rId4">
            <a:alphaModFix/>
          </a:blip>
          <a:stretch>
            <a:fillRect/>
          </a:stretch>
        </p:blipFill>
        <p:spPr>
          <a:xfrm>
            <a:off x="867250" y="1109089"/>
            <a:ext cx="3974699" cy="2925325"/>
          </a:xfrm>
          <a:prstGeom prst="rect">
            <a:avLst/>
          </a:prstGeom>
          <a:noFill/>
          <a:ln>
            <a:noFill/>
          </a:ln>
        </p:spPr>
      </p:pic>
      <p:sp>
        <p:nvSpPr>
          <p:cNvPr id="151" name="Google Shape;151;p22"/>
          <p:cNvSpPr txBox="1"/>
          <p:nvPr/>
        </p:nvSpPr>
        <p:spPr>
          <a:xfrm>
            <a:off x="4985450" y="1013600"/>
            <a:ext cx="3271200" cy="19116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1200"/>
              </a:spcAft>
              <a:buNone/>
            </a:pPr>
            <a:r>
              <a:rPr lang="id" sz="1100">
                <a:solidFill>
                  <a:schemeClr val="dk1"/>
                </a:solidFill>
              </a:rPr>
              <a:t>P</a:t>
            </a:r>
            <a:r>
              <a:rPr lang="id" sz="1100">
                <a:solidFill>
                  <a:schemeClr val="dk1"/>
                </a:solidFill>
              </a:rPr>
              <a:t>roses pelabelan gambar menjadi langkah fundamental untuk memastikan model dapat belajar dengan benar. Mapping image class mengacu pada proses menghubungkan setiap gambar dalam dataset ke label kelas yang sesuai, seperti </a:t>
            </a:r>
            <a:r>
              <a:rPr b="1" lang="id" sz="1100">
                <a:solidFill>
                  <a:schemeClr val="dk1"/>
                </a:solidFill>
              </a:rPr>
              <a:t>Male (1) dan Female (0). </a:t>
            </a:r>
            <a:r>
              <a:rPr lang="id" sz="1100">
                <a:solidFill>
                  <a:schemeClr val="dk1"/>
                </a:solidFill>
              </a:rPr>
              <a:t>Tanpa proses mapping yang baik, model dapat mengalami kesalahan klasifikasi yang berdampak pada akurasi dan keandalan prediksi.</a:t>
            </a:r>
            <a:endParaRPr sz="110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FEF"/>
        </a:solidFill>
      </p:bgPr>
    </p:bg>
    <p:spTree>
      <p:nvGrpSpPr>
        <p:cNvPr id="155" name="Shape 155"/>
        <p:cNvGrpSpPr/>
        <p:nvPr/>
      </p:nvGrpSpPr>
      <p:grpSpPr>
        <a:xfrm>
          <a:off x="0" y="0"/>
          <a:ext cx="0" cy="0"/>
          <a:chOff x="0" y="0"/>
          <a:chExt cx="0" cy="0"/>
        </a:xfrm>
      </p:grpSpPr>
      <p:sp>
        <p:nvSpPr>
          <p:cNvPr id="156" name="Google Shape;156;p23"/>
          <p:cNvSpPr/>
          <p:nvPr/>
        </p:nvSpPr>
        <p:spPr>
          <a:xfrm>
            <a:off x="0" y="4568875"/>
            <a:ext cx="9144000" cy="572700"/>
          </a:xfrm>
          <a:prstGeom prst="rect">
            <a:avLst/>
          </a:prstGeom>
          <a:solidFill>
            <a:srgbClr val="1C4587"/>
          </a:solidFill>
          <a:ln cap="flat" cmpd="sng" w="9525">
            <a:solidFill>
              <a:srgbClr val="9E73E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7" name="Google Shape;157;p23"/>
          <p:cNvSpPr/>
          <p:nvPr/>
        </p:nvSpPr>
        <p:spPr>
          <a:xfrm>
            <a:off x="397900" y="453100"/>
            <a:ext cx="4716000" cy="410100"/>
          </a:xfrm>
          <a:prstGeom prst="roundRect">
            <a:avLst>
              <a:gd fmla="val 50000" name="adj"/>
            </a:avLst>
          </a:prstGeom>
          <a:solidFill>
            <a:srgbClr val="3C78D8"/>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id">
                <a:solidFill>
                  <a:schemeClr val="lt1"/>
                </a:solidFill>
                <a:latin typeface="Inter ExtraBold"/>
                <a:ea typeface="Inter ExtraBold"/>
                <a:cs typeface="Inter ExtraBold"/>
                <a:sym typeface="Inter ExtraBold"/>
              </a:rPr>
              <a:t>Data Preparation - Plotting Class Distribution</a:t>
            </a:r>
            <a:endParaRPr>
              <a:solidFill>
                <a:schemeClr val="lt1"/>
              </a:solidFill>
              <a:latin typeface="Inter ExtraBold"/>
              <a:ea typeface="Inter ExtraBold"/>
              <a:cs typeface="Inter ExtraBold"/>
              <a:sym typeface="Inter ExtraBold"/>
            </a:endParaRPr>
          </a:p>
        </p:txBody>
      </p:sp>
      <p:sp>
        <p:nvSpPr>
          <p:cNvPr id="158" name="Google Shape;158;p23"/>
          <p:cNvSpPr txBox="1"/>
          <p:nvPr>
            <p:ph idx="4294967295" type="title"/>
          </p:nvPr>
        </p:nvSpPr>
        <p:spPr>
          <a:xfrm>
            <a:off x="72650" y="4650188"/>
            <a:ext cx="4036500" cy="410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sz="1200">
                <a:solidFill>
                  <a:schemeClr val="lt1"/>
                </a:solidFill>
              </a:rPr>
              <a:t>Hinton’s Prophet - Project 1</a:t>
            </a:r>
            <a:endParaRPr sz="1200">
              <a:solidFill>
                <a:schemeClr val="lt1"/>
              </a:solidFill>
            </a:endParaRPr>
          </a:p>
        </p:txBody>
      </p:sp>
      <p:pic>
        <p:nvPicPr>
          <p:cNvPr id="159" name="Google Shape;159;p23"/>
          <p:cNvPicPr preferRelativeResize="0"/>
          <p:nvPr/>
        </p:nvPicPr>
        <p:blipFill>
          <a:blip r:embed="rId3">
            <a:alphaModFix/>
          </a:blip>
          <a:stretch>
            <a:fillRect/>
          </a:stretch>
        </p:blipFill>
        <p:spPr>
          <a:xfrm>
            <a:off x="7119853" y="4660139"/>
            <a:ext cx="1905651" cy="366100"/>
          </a:xfrm>
          <a:prstGeom prst="rect">
            <a:avLst/>
          </a:prstGeom>
          <a:noFill/>
          <a:ln>
            <a:noFill/>
          </a:ln>
        </p:spPr>
      </p:pic>
      <p:pic>
        <p:nvPicPr>
          <p:cNvPr id="160" name="Google Shape;160;p23"/>
          <p:cNvPicPr preferRelativeResize="0"/>
          <p:nvPr/>
        </p:nvPicPr>
        <p:blipFill>
          <a:blip r:embed="rId4">
            <a:alphaModFix/>
          </a:blip>
          <a:stretch>
            <a:fillRect/>
          </a:stretch>
        </p:blipFill>
        <p:spPr>
          <a:xfrm>
            <a:off x="5470400" y="1185950"/>
            <a:ext cx="3091525" cy="2478374"/>
          </a:xfrm>
          <a:prstGeom prst="rect">
            <a:avLst/>
          </a:prstGeom>
          <a:noFill/>
          <a:ln>
            <a:noFill/>
          </a:ln>
        </p:spPr>
      </p:pic>
      <p:pic>
        <p:nvPicPr>
          <p:cNvPr id="161" name="Google Shape;161;p23"/>
          <p:cNvPicPr preferRelativeResize="0"/>
          <p:nvPr/>
        </p:nvPicPr>
        <p:blipFill>
          <a:blip r:embed="rId5">
            <a:alphaModFix/>
          </a:blip>
          <a:stretch>
            <a:fillRect/>
          </a:stretch>
        </p:blipFill>
        <p:spPr>
          <a:xfrm>
            <a:off x="520305" y="3250462"/>
            <a:ext cx="4716093" cy="1151375"/>
          </a:xfrm>
          <a:prstGeom prst="rect">
            <a:avLst/>
          </a:prstGeom>
          <a:noFill/>
          <a:ln>
            <a:noFill/>
          </a:ln>
        </p:spPr>
      </p:pic>
      <p:sp>
        <p:nvSpPr>
          <p:cNvPr id="162" name="Google Shape;162;p23"/>
          <p:cNvSpPr txBox="1"/>
          <p:nvPr/>
        </p:nvSpPr>
        <p:spPr>
          <a:xfrm>
            <a:off x="466950" y="1075400"/>
            <a:ext cx="4822800" cy="20655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0"/>
              </a:spcAft>
              <a:buNone/>
            </a:pPr>
            <a:r>
              <a:rPr lang="id" sz="1100">
                <a:solidFill>
                  <a:schemeClr val="dk1"/>
                </a:solidFill>
              </a:rPr>
              <a:t>Dalam pengembangan model </a:t>
            </a:r>
            <a:r>
              <a:rPr b="1" lang="id" sz="1100">
                <a:solidFill>
                  <a:schemeClr val="dk1"/>
                </a:solidFill>
              </a:rPr>
              <a:t>gender classification</a:t>
            </a:r>
            <a:r>
              <a:rPr lang="id" sz="1100">
                <a:solidFill>
                  <a:schemeClr val="dk1"/>
                </a:solidFill>
              </a:rPr>
              <a:t>, memahami distribusi kelas dalam dataset adalah langkah awal yang sangat penting. Salah satu cara efektif untuk melakukan ini adalah dengan </a:t>
            </a:r>
            <a:r>
              <a:rPr b="1" lang="id" sz="1100">
                <a:solidFill>
                  <a:schemeClr val="dk1"/>
                </a:solidFill>
              </a:rPr>
              <a:t>plotting distribusi kelas</a:t>
            </a:r>
            <a:r>
              <a:rPr lang="id" sz="1100">
                <a:solidFill>
                  <a:schemeClr val="dk1"/>
                </a:solidFill>
              </a:rPr>
              <a:t>, yang memberikan gambaran visual tentang jumlah sampel dalam setiap kategori, seperti </a:t>
            </a:r>
            <a:r>
              <a:rPr b="1" lang="id" sz="1100">
                <a:solidFill>
                  <a:schemeClr val="dk1"/>
                </a:solidFill>
              </a:rPr>
              <a:t>Male dan Female</a:t>
            </a:r>
            <a:r>
              <a:rPr lang="id" sz="1100">
                <a:solidFill>
                  <a:schemeClr val="dk1"/>
                </a:solidFill>
              </a:rPr>
              <a:t>.</a:t>
            </a:r>
            <a:endParaRPr sz="1100">
              <a:solidFill>
                <a:schemeClr val="dk1"/>
              </a:solidFill>
            </a:endParaRPr>
          </a:p>
          <a:p>
            <a:pPr indent="0" lvl="0" marL="0" rtl="0" algn="just">
              <a:lnSpc>
                <a:spcPct val="115000"/>
              </a:lnSpc>
              <a:spcBef>
                <a:spcPts val="1200"/>
              </a:spcBef>
              <a:spcAft>
                <a:spcPts val="1200"/>
              </a:spcAft>
              <a:buNone/>
            </a:pPr>
            <a:r>
              <a:rPr lang="id" sz="1100">
                <a:solidFill>
                  <a:schemeClr val="dk1"/>
                </a:solidFill>
              </a:rPr>
              <a:t>Plot distribusi kelas membantu dalam berbagai aspek penting dalam pengolahan data dan pelatihan model, seperti </a:t>
            </a:r>
            <a:r>
              <a:rPr b="1" lang="id" sz="1100">
                <a:solidFill>
                  <a:schemeClr val="dk1"/>
                </a:solidFill>
              </a:rPr>
              <a:t>deteksi ketidakseimbangan data, optimasi model, dan pengambilan keputusan dalam preprocessing</a:t>
            </a:r>
            <a:r>
              <a:rPr lang="id" sz="1100">
                <a:solidFill>
                  <a:schemeClr val="dk1"/>
                </a:solidFill>
              </a:rPr>
              <a:t>.</a:t>
            </a:r>
            <a:endParaRPr sz="110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FEF"/>
        </a:solidFill>
      </p:bgPr>
    </p:bg>
    <p:spTree>
      <p:nvGrpSpPr>
        <p:cNvPr id="166" name="Shape 166"/>
        <p:cNvGrpSpPr/>
        <p:nvPr/>
      </p:nvGrpSpPr>
      <p:grpSpPr>
        <a:xfrm>
          <a:off x="0" y="0"/>
          <a:ext cx="0" cy="0"/>
          <a:chOff x="0" y="0"/>
          <a:chExt cx="0" cy="0"/>
        </a:xfrm>
      </p:grpSpPr>
      <p:sp>
        <p:nvSpPr>
          <p:cNvPr id="167" name="Google Shape;167;p24"/>
          <p:cNvSpPr/>
          <p:nvPr/>
        </p:nvSpPr>
        <p:spPr>
          <a:xfrm>
            <a:off x="0" y="4568875"/>
            <a:ext cx="9144000" cy="572700"/>
          </a:xfrm>
          <a:prstGeom prst="rect">
            <a:avLst/>
          </a:prstGeom>
          <a:solidFill>
            <a:srgbClr val="1C4587"/>
          </a:solidFill>
          <a:ln cap="flat" cmpd="sng" w="9525">
            <a:solidFill>
              <a:srgbClr val="9E73E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8" name="Google Shape;168;p24"/>
          <p:cNvSpPr/>
          <p:nvPr/>
        </p:nvSpPr>
        <p:spPr>
          <a:xfrm>
            <a:off x="312450" y="454950"/>
            <a:ext cx="3368400" cy="410100"/>
          </a:xfrm>
          <a:prstGeom prst="roundRect">
            <a:avLst>
              <a:gd fmla="val 50000" name="adj"/>
            </a:avLst>
          </a:prstGeom>
          <a:solidFill>
            <a:srgbClr val="3C78D8"/>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id">
                <a:solidFill>
                  <a:schemeClr val="lt1"/>
                </a:solidFill>
                <a:latin typeface="Inter ExtraBold"/>
                <a:ea typeface="Inter ExtraBold"/>
                <a:cs typeface="Inter ExtraBold"/>
                <a:sym typeface="Inter ExtraBold"/>
              </a:rPr>
              <a:t>Architecture &amp; Modelling</a:t>
            </a:r>
            <a:endParaRPr>
              <a:solidFill>
                <a:schemeClr val="lt1"/>
              </a:solidFill>
              <a:latin typeface="Inter ExtraBold"/>
              <a:ea typeface="Inter ExtraBold"/>
              <a:cs typeface="Inter ExtraBold"/>
              <a:sym typeface="Inter ExtraBold"/>
            </a:endParaRPr>
          </a:p>
        </p:txBody>
      </p:sp>
      <p:sp>
        <p:nvSpPr>
          <p:cNvPr id="169" name="Google Shape;169;p24"/>
          <p:cNvSpPr txBox="1"/>
          <p:nvPr>
            <p:ph idx="4294967295" type="title"/>
          </p:nvPr>
        </p:nvSpPr>
        <p:spPr>
          <a:xfrm>
            <a:off x="72650" y="4650188"/>
            <a:ext cx="4036500" cy="410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sz="1200">
                <a:solidFill>
                  <a:schemeClr val="lt1"/>
                </a:solidFill>
              </a:rPr>
              <a:t>Hinton’s Prophet - Project 1</a:t>
            </a:r>
            <a:endParaRPr sz="1200">
              <a:solidFill>
                <a:schemeClr val="lt1"/>
              </a:solidFill>
            </a:endParaRPr>
          </a:p>
        </p:txBody>
      </p:sp>
      <p:pic>
        <p:nvPicPr>
          <p:cNvPr id="170" name="Google Shape;170;p24"/>
          <p:cNvPicPr preferRelativeResize="0"/>
          <p:nvPr/>
        </p:nvPicPr>
        <p:blipFill>
          <a:blip r:embed="rId3">
            <a:alphaModFix/>
          </a:blip>
          <a:stretch>
            <a:fillRect/>
          </a:stretch>
        </p:blipFill>
        <p:spPr>
          <a:xfrm>
            <a:off x="7119853" y="4660139"/>
            <a:ext cx="1905651" cy="366100"/>
          </a:xfrm>
          <a:prstGeom prst="rect">
            <a:avLst/>
          </a:prstGeom>
          <a:noFill/>
          <a:ln>
            <a:noFill/>
          </a:ln>
        </p:spPr>
      </p:pic>
      <p:pic>
        <p:nvPicPr>
          <p:cNvPr id="171" name="Google Shape;171;p24"/>
          <p:cNvPicPr preferRelativeResize="0"/>
          <p:nvPr/>
        </p:nvPicPr>
        <p:blipFill>
          <a:blip r:embed="rId4">
            <a:alphaModFix/>
          </a:blip>
          <a:stretch>
            <a:fillRect/>
          </a:stretch>
        </p:blipFill>
        <p:spPr>
          <a:xfrm>
            <a:off x="4156550" y="-63125"/>
            <a:ext cx="4084075" cy="4473425"/>
          </a:xfrm>
          <a:prstGeom prst="rect">
            <a:avLst/>
          </a:prstGeom>
          <a:noFill/>
          <a:ln>
            <a:noFill/>
          </a:ln>
        </p:spPr>
      </p:pic>
      <p:sp>
        <p:nvSpPr>
          <p:cNvPr id="172" name="Google Shape;172;p24"/>
          <p:cNvSpPr txBox="1"/>
          <p:nvPr/>
        </p:nvSpPr>
        <p:spPr>
          <a:xfrm>
            <a:off x="754275" y="1378800"/>
            <a:ext cx="3000000" cy="23859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id" sz="1100">
                <a:solidFill>
                  <a:schemeClr val="dk1"/>
                </a:solidFill>
              </a:rPr>
              <a:t>Learning Rate</a:t>
            </a:r>
            <a:r>
              <a:rPr lang="id" sz="1100">
                <a:solidFill>
                  <a:schemeClr val="dk1"/>
                </a:solidFill>
              </a:rPr>
              <a:t> ditetapkan sebesar 0.001 untuk mengontrol kecepatan pembaruan bobot. Proses pelatihan dilakukan selama </a:t>
            </a:r>
            <a:r>
              <a:rPr b="1" lang="id" sz="1100">
                <a:solidFill>
                  <a:schemeClr val="dk1"/>
                </a:solidFill>
              </a:rPr>
              <a:t>10 Epochs</a:t>
            </a:r>
            <a:r>
              <a:rPr lang="id" sz="1100">
                <a:solidFill>
                  <a:schemeClr val="dk1"/>
                </a:solidFill>
              </a:rPr>
              <a:t> dengan </a:t>
            </a:r>
            <a:r>
              <a:rPr b="1" lang="id" sz="1100">
                <a:solidFill>
                  <a:schemeClr val="dk1"/>
                </a:solidFill>
              </a:rPr>
              <a:t>Batch Size</a:t>
            </a:r>
            <a:r>
              <a:rPr lang="id" sz="1100">
                <a:solidFill>
                  <a:schemeClr val="dk1"/>
                </a:solidFill>
              </a:rPr>
              <a:t> 128 untuk efisiensi pemrosesan. Model yang digunakan meliputi </a:t>
            </a:r>
            <a:r>
              <a:rPr b="1" lang="id" sz="1100">
                <a:solidFill>
                  <a:schemeClr val="dk1"/>
                </a:solidFill>
              </a:rPr>
              <a:t>VGG16</a:t>
            </a:r>
            <a:r>
              <a:rPr lang="id" sz="1100">
                <a:solidFill>
                  <a:schemeClr val="dk1"/>
                </a:solidFill>
              </a:rPr>
              <a:t>, </a:t>
            </a:r>
            <a:r>
              <a:rPr b="1" lang="id" sz="1100">
                <a:solidFill>
                  <a:schemeClr val="dk1"/>
                </a:solidFill>
              </a:rPr>
              <a:t>ResNet</a:t>
            </a:r>
            <a:r>
              <a:rPr lang="id" sz="1100">
                <a:solidFill>
                  <a:schemeClr val="dk1"/>
                </a:solidFill>
              </a:rPr>
              <a:t>, dan </a:t>
            </a:r>
            <a:r>
              <a:rPr b="1" lang="id" sz="1100">
                <a:solidFill>
                  <a:schemeClr val="dk1"/>
                </a:solidFill>
              </a:rPr>
              <a:t>Google Net</a:t>
            </a:r>
            <a:r>
              <a:rPr lang="id" sz="1100">
                <a:solidFill>
                  <a:schemeClr val="dk1"/>
                </a:solidFill>
              </a:rPr>
              <a:t>, menunjukkan fleksibilitas arsitektur. Kriteria loss function yang dipilih adalah </a:t>
            </a:r>
            <a:r>
              <a:rPr b="1" lang="id" sz="1100">
                <a:solidFill>
                  <a:schemeClr val="dk1"/>
                </a:solidFill>
              </a:rPr>
              <a:t>CrossEntropy</a:t>
            </a:r>
            <a:r>
              <a:rPr lang="id" sz="1100">
                <a:solidFill>
                  <a:schemeClr val="dk1"/>
                </a:solidFill>
              </a:rPr>
              <a:t>, yang cocok untuk tugas klasifikasi. </a:t>
            </a:r>
            <a:r>
              <a:rPr b="1" lang="id" sz="1100">
                <a:solidFill>
                  <a:schemeClr val="dk1"/>
                </a:solidFill>
              </a:rPr>
              <a:t>Optimizer Adam</a:t>
            </a:r>
            <a:r>
              <a:rPr lang="id" sz="1100">
                <a:solidFill>
                  <a:schemeClr val="dk1"/>
                </a:solidFill>
              </a:rPr>
              <a:t> digunakan untuk mempercepat konvergensi. Data dibagi dengan rasio </a:t>
            </a:r>
            <a:r>
              <a:rPr b="1" lang="id" sz="1100">
                <a:solidFill>
                  <a:schemeClr val="dk1"/>
                </a:solidFill>
              </a:rPr>
              <a:t>80:20</a:t>
            </a:r>
            <a:r>
              <a:rPr lang="id" sz="1100">
                <a:solidFill>
                  <a:schemeClr val="dk1"/>
                </a:solidFill>
              </a:rPr>
              <a:t>, di mana 80% digunakan untuk pelatihan dan 20% untuk validasi.</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FEF"/>
        </a:solidFill>
      </p:bgPr>
    </p:bg>
    <p:spTree>
      <p:nvGrpSpPr>
        <p:cNvPr id="176" name="Shape 176"/>
        <p:cNvGrpSpPr/>
        <p:nvPr/>
      </p:nvGrpSpPr>
      <p:grpSpPr>
        <a:xfrm>
          <a:off x="0" y="0"/>
          <a:ext cx="0" cy="0"/>
          <a:chOff x="0" y="0"/>
          <a:chExt cx="0" cy="0"/>
        </a:xfrm>
      </p:grpSpPr>
      <p:sp>
        <p:nvSpPr>
          <p:cNvPr id="177" name="Google Shape;177;p25"/>
          <p:cNvSpPr/>
          <p:nvPr/>
        </p:nvSpPr>
        <p:spPr>
          <a:xfrm>
            <a:off x="0" y="4568875"/>
            <a:ext cx="9144000" cy="572700"/>
          </a:xfrm>
          <a:prstGeom prst="rect">
            <a:avLst/>
          </a:prstGeom>
          <a:solidFill>
            <a:srgbClr val="1C4587"/>
          </a:solidFill>
          <a:ln cap="flat" cmpd="sng" w="9525">
            <a:solidFill>
              <a:srgbClr val="9E73E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8" name="Google Shape;178;p25"/>
          <p:cNvSpPr/>
          <p:nvPr/>
        </p:nvSpPr>
        <p:spPr>
          <a:xfrm>
            <a:off x="397900" y="453100"/>
            <a:ext cx="2269800" cy="410100"/>
          </a:xfrm>
          <a:prstGeom prst="roundRect">
            <a:avLst>
              <a:gd fmla="val 50000" name="adj"/>
            </a:avLst>
          </a:prstGeom>
          <a:solidFill>
            <a:srgbClr val="3C78D8"/>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id">
                <a:solidFill>
                  <a:schemeClr val="lt1"/>
                </a:solidFill>
                <a:latin typeface="Inter ExtraBold"/>
                <a:ea typeface="Inter ExtraBold"/>
                <a:cs typeface="Inter ExtraBold"/>
                <a:sym typeface="Inter ExtraBold"/>
              </a:rPr>
              <a:t>Evaluation </a:t>
            </a:r>
            <a:r>
              <a:rPr lang="id">
                <a:solidFill>
                  <a:schemeClr val="lt1"/>
                </a:solidFill>
                <a:latin typeface="Inter ExtraBold"/>
                <a:ea typeface="Inter ExtraBold"/>
                <a:cs typeface="Inter ExtraBold"/>
                <a:sym typeface="Inter ExtraBold"/>
              </a:rPr>
              <a:t>- VGG16</a:t>
            </a:r>
            <a:endParaRPr>
              <a:solidFill>
                <a:schemeClr val="lt1"/>
              </a:solidFill>
              <a:latin typeface="Inter ExtraBold"/>
              <a:ea typeface="Inter ExtraBold"/>
              <a:cs typeface="Inter ExtraBold"/>
              <a:sym typeface="Inter ExtraBold"/>
            </a:endParaRPr>
          </a:p>
        </p:txBody>
      </p:sp>
      <p:sp>
        <p:nvSpPr>
          <p:cNvPr id="179" name="Google Shape;179;p25"/>
          <p:cNvSpPr txBox="1"/>
          <p:nvPr>
            <p:ph idx="4294967295" type="title"/>
          </p:nvPr>
        </p:nvSpPr>
        <p:spPr>
          <a:xfrm>
            <a:off x="72650" y="4650188"/>
            <a:ext cx="4036500" cy="410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sz="1200">
                <a:solidFill>
                  <a:schemeClr val="lt1"/>
                </a:solidFill>
              </a:rPr>
              <a:t>Hinton’s Prophet - Project 1</a:t>
            </a:r>
            <a:endParaRPr sz="1200">
              <a:solidFill>
                <a:schemeClr val="lt1"/>
              </a:solidFill>
            </a:endParaRPr>
          </a:p>
        </p:txBody>
      </p:sp>
      <p:pic>
        <p:nvPicPr>
          <p:cNvPr id="180" name="Google Shape;180;p25"/>
          <p:cNvPicPr preferRelativeResize="0"/>
          <p:nvPr/>
        </p:nvPicPr>
        <p:blipFill>
          <a:blip r:embed="rId3">
            <a:alphaModFix/>
          </a:blip>
          <a:stretch>
            <a:fillRect/>
          </a:stretch>
        </p:blipFill>
        <p:spPr>
          <a:xfrm>
            <a:off x="7119853" y="4660139"/>
            <a:ext cx="1905651" cy="366100"/>
          </a:xfrm>
          <a:prstGeom prst="rect">
            <a:avLst/>
          </a:prstGeom>
          <a:noFill/>
          <a:ln>
            <a:noFill/>
          </a:ln>
        </p:spPr>
      </p:pic>
      <p:pic>
        <p:nvPicPr>
          <p:cNvPr id="181" name="Google Shape;181;p25"/>
          <p:cNvPicPr preferRelativeResize="0"/>
          <p:nvPr/>
        </p:nvPicPr>
        <p:blipFill>
          <a:blip r:embed="rId4">
            <a:alphaModFix/>
          </a:blip>
          <a:stretch>
            <a:fillRect/>
          </a:stretch>
        </p:blipFill>
        <p:spPr>
          <a:xfrm>
            <a:off x="979925" y="1456475"/>
            <a:ext cx="3302325" cy="2600449"/>
          </a:xfrm>
          <a:prstGeom prst="rect">
            <a:avLst/>
          </a:prstGeom>
          <a:noFill/>
          <a:ln>
            <a:noFill/>
          </a:ln>
        </p:spPr>
      </p:pic>
      <p:pic>
        <p:nvPicPr>
          <p:cNvPr id="182" name="Google Shape;182;p25"/>
          <p:cNvPicPr preferRelativeResize="0"/>
          <p:nvPr/>
        </p:nvPicPr>
        <p:blipFill>
          <a:blip r:embed="rId5">
            <a:alphaModFix/>
          </a:blip>
          <a:stretch>
            <a:fillRect/>
          </a:stretch>
        </p:blipFill>
        <p:spPr>
          <a:xfrm>
            <a:off x="4609900" y="3097700"/>
            <a:ext cx="3488775" cy="1278700"/>
          </a:xfrm>
          <a:prstGeom prst="rect">
            <a:avLst/>
          </a:prstGeom>
          <a:noFill/>
          <a:ln>
            <a:noFill/>
          </a:ln>
        </p:spPr>
      </p:pic>
      <p:pic>
        <p:nvPicPr>
          <p:cNvPr id="183" name="Google Shape;183;p25"/>
          <p:cNvPicPr preferRelativeResize="0"/>
          <p:nvPr/>
        </p:nvPicPr>
        <p:blipFill>
          <a:blip r:embed="rId6">
            <a:alphaModFix/>
          </a:blip>
          <a:stretch>
            <a:fillRect/>
          </a:stretch>
        </p:blipFill>
        <p:spPr>
          <a:xfrm>
            <a:off x="4609900" y="317100"/>
            <a:ext cx="3488774" cy="2660793"/>
          </a:xfrm>
          <a:prstGeom prst="rect">
            <a:avLst/>
          </a:prstGeom>
          <a:noFill/>
          <a:ln>
            <a:noFill/>
          </a:ln>
        </p:spPr>
      </p:pic>
      <p:pic>
        <p:nvPicPr>
          <p:cNvPr id="184" name="Google Shape;184;p25"/>
          <p:cNvPicPr preferRelativeResize="0"/>
          <p:nvPr/>
        </p:nvPicPr>
        <p:blipFill>
          <a:blip r:embed="rId5">
            <a:alphaModFix/>
          </a:blip>
          <a:stretch>
            <a:fillRect/>
          </a:stretch>
        </p:blipFill>
        <p:spPr>
          <a:xfrm>
            <a:off x="4609900" y="3097700"/>
            <a:ext cx="3488775" cy="1278700"/>
          </a:xfrm>
          <a:prstGeom prst="rect">
            <a:avLst/>
          </a:prstGeom>
          <a:noFill/>
          <a:ln>
            <a:noFill/>
          </a:ln>
        </p:spPr>
      </p:pic>
      <p:pic>
        <p:nvPicPr>
          <p:cNvPr id="185" name="Google Shape;185;p25"/>
          <p:cNvPicPr preferRelativeResize="0"/>
          <p:nvPr/>
        </p:nvPicPr>
        <p:blipFill>
          <a:blip r:embed="rId6">
            <a:alphaModFix/>
          </a:blip>
          <a:stretch>
            <a:fillRect/>
          </a:stretch>
        </p:blipFill>
        <p:spPr>
          <a:xfrm>
            <a:off x="4609900" y="317100"/>
            <a:ext cx="3488774" cy="2660793"/>
          </a:xfrm>
          <a:prstGeom prst="rect">
            <a:avLst/>
          </a:prstGeom>
          <a:noFill/>
          <a:ln>
            <a:noFill/>
          </a:ln>
        </p:spPr>
      </p:pic>
      <p:pic>
        <p:nvPicPr>
          <p:cNvPr id="186" name="Google Shape;186;p25"/>
          <p:cNvPicPr preferRelativeResize="0"/>
          <p:nvPr/>
        </p:nvPicPr>
        <p:blipFill>
          <a:blip r:embed="rId7">
            <a:alphaModFix/>
          </a:blip>
          <a:stretch>
            <a:fillRect/>
          </a:stretch>
        </p:blipFill>
        <p:spPr>
          <a:xfrm>
            <a:off x="979925" y="1456475"/>
            <a:ext cx="3302326" cy="2476751"/>
          </a:xfrm>
          <a:prstGeom prst="rect">
            <a:avLst/>
          </a:prstGeom>
          <a:noFill/>
          <a:ln>
            <a:noFill/>
          </a:ln>
        </p:spPr>
      </p:pic>
      <p:pic>
        <p:nvPicPr>
          <p:cNvPr id="187" name="Google Shape;187;p25"/>
          <p:cNvPicPr preferRelativeResize="0"/>
          <p:nvPr/>
        </p:nvPicPr>
        <p:blipFill>
          <a:blip r:embed="rId8">
            <a:alphaModFix/>
          </a:blip>
          <a:stretch>
            <a:fillRect/>
          </a:stretch>
        </p:blipFill>
        <p:spPr>
          <a:xfrm>
            <a:off x="4609900" y="240400"/>
            <a:ext cx="3650000" cy="2737500"/>
          </a:xfrm>
          <a:prstGeom prst="rect">
            <a:avLst/>
          </a:prstGeom>
          <a:noFill/>
          <a:ln>
            <a:noFill/>
          </a:ln>
        </p:spPr>
      </p:pic>
      <p:pic>
        <p:nvPicPr>
          <p:cNvPr id="188" name="Google Shape;188;p25"/>
          <p:cNvPicPr preferRelativeResize="0"/>
          <p:nvPr/>
        </p:nvPicPr>
        <p:blipFill>
          <a:blip r:embed="rId9">
            <a:alphaModFix/>
          </a:blip>
          <a:stretch>
            <a:fillRect/>
          </a:stretch>
        </p:blipFill>
        <p:spPr>
          <a:xfrm>
            <a:off x="4609900" y="3067413"/>
            <a:ext cx="3545776" cy="1411950"/>
          </a:xfrm>
          <a:prstGeom prst="rect">
            <a:avLst/>
          </a:prstGeom>
          <a:noFill/>
          <a:ln>
            <a:noFill/>
          </a:ln>
        </p:spPr>
      </p:pic>
      <p:pic>
        <p:nvPicPr>
          <p:cNvPr id="189" name="Google Shape;189;p25"/>
          <p:cNvPicPr preferRelativeResize="0"/>
          <p:nvPr/>
        </p:nvPicPr>
        <p:blipFill>
          <a:blip r:embed="rId7">
            <a:alphaModFix/>
          </a:blip>
          <a:stretch>
            <a:fillRect/>
          </a:stretch>
        </p:blipFill>
        <p:spPr>
          <a:xfrm>
            <a:off x="897475" y="1415825"/>
            <a:ext cx="3488776" cy="2616569"/>
          </a:xfrm>
          <a:prstGeom prst="rect">
            <a:avLst/>
          </a:prstGeom>
          <a:noFill/>
          <a:ln>
            <a:noFill/>
          </a:ln>
        </p:spPr>
      </p:pic>
      <p:pic>
        <p:nvPicPr>
          <p:cNvPr id="190" name="Google Shape;190;p25"/>
          <p:cNvPicPr preferRelativeResize="0"/>
          <p:nvPr/>
        </p:nvPicPr>
        <p:blipFill>
          <a:blip r:embed="rId8">
            <a:alphaModFix/>
          </a:blip>
          <a:stretch>
            <a:fillRect/>
          </a:stretch>
        </p:blipFill>
        <p:spPr>
          <a:xfrm>
            <a:off x="4609900" y="240400"/>
            <a:ext cx="3650000" cy="2737500"/>
          </a:xfrm>
          <a:prstGeom prst="rect">
            <a:avLst/>
          </a:prstGeom>
          <a:noFill/>
          <a:ln>
            <a:noFill/>
          </a:ln>
        </p:spPr>
      </p:pic>
      <p:pic>
        <p:nvPicPr>
          <p:cNvPr id="191" name="Google Shape;191;p25"/>
          <p:cNvPicPr preferRelativeResize="0"/>
          <p:nvPr/>
        </p:nvPicPr>
        <p:blipFill>
          <a:blip r:embed="rId10">
            <a:alphaModFix/>
          </a:blip>
          <a:stretch>
            <a:fillRect/>
          </a:stretch>
        </p:blipFill>
        <p:spPr>
          <a:xfrm>
            <a:off x="4609900" y="3091375"/>
            <a:ext cx="3545775" cy="138631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FEF"/>
        </a:solidFill>
      </p:bgPr>
    </p:bg>
    <p:spTree>
      <p:nvGrpSpPr>
        <p:cNvPr id="195" name="Shape 195"/>
        <p:cNvGrpSpPr/>
        <p:nvPr/>
      </p:nvGrpSpPr>
      <p:grpSpPr>
        <a:xfrm>
          <a:off x="0" y="0"/>
          <a:ext cx="0" cy="0"/>
          <a:chOff x="0" y="0"/>
          <a:chExt cx="0" cy="0"/>
        </a:xfrm>
      </p:grpSpPr>
      <p:sp>
        <p:nvSpPr>
          <p:cNvPr id="196" name="Google Shape;196;p26"/>
          <p:cNvSpPr/>
          <p:nvPr/>
        </p:nvSpPr>
        <p:spPr>
          <a:xfrm>
            <a:off x="0" y="4568875"/>
            <a:ext cx="9144000" cy="572700"/>
          </a:xfrm>
          <a:prstGeom prst="rect">
            <a:avLst/>
          </a:prstGeom>
          <a:solidFill>
            <a:srgbClr val="1C4587"/>
          </a:solidFill>
          <a:ln cap="flat" cmpd="sng" w="9525">
            <a:solidFill>
              <a:srgbClr val="9E73E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7" name="Google Shape;197;p26"/>
          <p:cNvSpPr/>
          <p:nvPr/>
        </p:nvSpPr>
        <p:spPr>
          <a:xfrm>
            <a:off x="397900" y="453100"/>
            <a:ext cx="2571600" cy="410100"/>
          </a:xfrm>
          <a:prstGeom prst="roundRect">
            <a:avLst>
              <a:gd fmla="val 50000" name="adj"/>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d">
                <a:solidFill>
                  <a:schemeClr val="lt1"/>
                </a:solidFill>
                <a:latin typeface="Inter ExtraBold"/>
                <a:ea typeface="Inter ExtraBold"/>
                <a:cs typeface="Inter ExtraBold"/>
                <a:sym typeface="Inter ExtraBold"/>
              </a:rPr>
              <a:t>Hyperparameter Tuning </a:t>
            </a:r>
            <a:endParaRPr>
              <a:solidFill>
                <a:schemeClr val="lt1"/>
              </a:solidFill>
              <a:latin typeface="Inter ExtraBold"/>
              <a:ea typeface="Inter ExtraBold"/>
              <a:cs typeface="Inter ExtraBold"/>
              <a:sym typeface="Inter ExtraBold"/>
            </a:endParaRPr>
          </a:p>
        </p:txBody>
      </p:sp>
      <p:sp>
        <p:nvSpPr>
          <p:cNvPr id="198" name="Google Shape;198;p26"/>
          <p:cNvSpPr txBox="1"/>
          <p:nvPr>
            <p:ph idx="4294967295" type="title"/>
          </p:nvPr>
        </p:nvSpPr>
        <p:spPr>
          <a:xfrm>
            <a:off x="72650" y="4650188"/>
            <a:ext cx="4036500" cy="410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sz="1200">
                <a:solidFill>
                  <a:schemeClr val="lt1"/>
                </a:solidFill>
              </a:rPr>
              <a:t>Hinton’s Prophet - Project 1</a:t>
            </a:r>
            <a:endParaRPr sz="1200">
              <a:solidFill>
                <a:schemeClr val="lt1"/>
              </a:solidFill>
            </a:endParaRPr>
          </a:p>
        </p:txBody>
      </p:sp>
      <p:pic>
        <p:nvPicPr>
          <p:cNvPr id="199" name="Google Shape;199;p26"/>
          <p:cNvPicPr preferRelativeResize="0"/>
          <p:nvPr/>
        </p:nvPicPr>
        <p:blipFill>
          <a:blip r:embed="rId3">
            <a:alphaModFix/>
          </a:blip>
          <a:stretch>
            <a:fillRect/>
          </a:stretch>
        </p:blipFill>
        <p:spPr>
          <a:xfrm>
            <a:off x="7119853" y="4660139"/>
            <a:ext cx="1905651" cy="366100"/>
          </a:xfrm>
          <a:prstGeom prst="rect">
            <a:avLst/>
          </a:prstGeom>
          <a:noFill/>
          <a:ln>
            <a:noFill/>
          </a:ln>
        </p:spPr>
      </p:pic>
      <p:pic>
        <p:nvPicPr>
          <p:cNvPr id="200" name="Google Shape;200;p26"/>
          <p:cNvPicPr preferRelativeResize="0"/>
          <p:nvPr/>
        </p:nvPicPr>
        <p:blipFill>
          <a:blip r:embed="rId4">
            <a:alphaModFix/>
          </a:blip>
          <a:stretch>
            <a:fillRect/>
          </a:stretch>
        </p:blipFill>
        <p:spPr>
          <a:xfrm>
            <a:off x="785725" y="1230600"/>
            <a:ext cx="3134224" cy="1984325"/>
          </a:xfrm>
          <a:prstGeom prst="rect">
            <a:avLst/>
          </a:prstGeom>
          <a:noFill/>
          <a:ln>
            <a:noFill/>
          </a:ln>
        </p:spPr>
      </p:pic>
      <p:sp>
        <p:nvSpPr>
          <p:cNvPr id="201" name="Google Shape;201;p26"/>
          <p:cNvSpPr txBox="1"/>
          <p:nvPr/>
        </p:nvSpPr>
        <p:spPr>
          <a:xfrm>
            <a:off x="4410750" y="1230600"/>
            <a:ext cx="3000000" cy="15393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id" sz="1100">
                <a:solidFill>
                  <a:schemeClr val="dk1"/>
                </a:solidFill>
              </a:rPr>
              <a:t>Hasil ini menunjukkan bahwa </a:t>
            </a:r>
            <a:r>
              <a:rPr b="1" lang="id" sz="1100">
                <a:solidFill>
                  <a:schemeClr val="dk1"/>
                </a:solidFill>
              </a:rPr>
              <a:t>learning rate rendah (1e-05)</a:t>
            </a:r>
            <a:r>
              <a:rPr lang="id" sz="1100">
                <a:solidFill>
                  <a:schemeClr val="dk1"/>
                </a:solidFill>
              </a:rPr>
              <a:t> dengan </a:t>
            </a:r>
            <a:r>
              <a:rPr b="1" lang="id" sz="1100">
                <a:solidFill>
                  <a:schemeClr val="dk1"/>
                </a:solidFill>
              </a:rPr>
              <a:t>batch size lebih besar (64 atau 128)</a:t>
            </a:r>
            <a:r>
              <a:rPr lang="id" sz="1100">
                <a:solidFill>
                  <a:schemeClr val="dk1"/>
                </a:solidFill>
              </a:rPr>
              <a:t> dan </a:t>
            </a:r>
            <a:r>
              <a:rPr b="1" lang="id" sz="1100">
                <a:solidFill>
                  <a:schemeClr val="dk1"/>
                </a:solidFill>
              </a:rPr>
              <a:t>jumlah epochs cukup banyak (25-30)</a:t>
            </a:r>
            <a:r>
              <a:rPr lang="id" sz="1100">
                <a:solidFill>
                  <a:schemeClr val="dk1"/>
                </a:solidFill>
              </a:rPr>
              <a:t> cenderung memberikan kinerja model terbaik. Pemilihan kombinasi optimal ini penting untuk memastikan model mencapai akurasi tinggi tanpa overfitting.</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FEF"/>
        </a:solidFill>
      </p:bgPr>
    </p:bg>
    <p:spTree>
      <p:nvGrpSpPr>
        <p:cNvPr id="205" name="Shape 205"/>
        <p:cNvGrpSpPr/>
        <p:nvPr/>
      </p:nvGrpSpPr>
      <p:grpSpPr>
        <a:xfrm>
          <a:off x="0" y="0"/>
          <a:ext cx="0" cy="0"/>
          <a:chOff x="0" y="0"/>
          <a:chExt cx="0" cy="0"/>
        </a:xfrm>
      </p:grpSpPr>
      <p:sp>
        <p:nvSpPr>
          <p:cNvPr id="206" name="Google Shape;206;p27"/>
          <p:cNvSpPr/>
          <p:nvPr/>
        </p:nvSpPr>
        <p:spPr>
          <a:xfrm>
            <a:off x="0" y="4568875"/>
            <a:ext cx="9144000" cy="572700"/>
          </a:xfrm>
          <a:prstGeom prst="rect">
            <a:avLst/>
          </a:prstGeom>
          <a:solidFill>
            <a:srgbClr val="1C4587"/>
          </a:solidFill>
          <a:ln cap="flat" cmpd="sng" w="9525">
            <a:solidFill>
              <a:srgbClr val="9E73E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7" name="Google Shape;207;p27"/>
          <p:cNvSpPr/>
          <p:nvPr/>
        </p:nvSpPr>
        <p:spPr>
          <a:xfrm>
            <a:off x="397900" y="453100"/>
            <a:ext cx="2269800" cy="410100"/>
          </a:xfrm>
          <a:prstGeom prst="roundRect">
            <a:avLst>
              <a:gd fmla="val 50000" name="adj"/>
            </a:avLst>
          </a:prstGeom>
          <a:solidFill>
            <a:srgbClr val="3C78D8"/>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id">
                <a:solidFill>
                  <a:schemeClr val="lt1"/>
                </a:solidFill>
                <a:latin typeface="Inter ExtraBold"/>
                <a:ea typeface="Inter ExtraBold"/>
                <a:cs typeface="Inter ExtraBold"/>
                <a:sym typeface="Inter ExtraBold"/>
              </a:rPr>
              <a:t>Evaluation - ResNet</a:t>
            </a:r>
            <a:endParaRPr>
              <a:solidFill>
                <a:schemeClr val="lt1"/>
              </a:solidFill>
              <a:latin typeface="Inter ExtraBold"/>
              <a:ea typeface="Inter ExtraBold"/>
              <a:cs typeface="Inter ExtraBold"/>
              <a:sym typeface="Inter ExtraBold"/>
            </a:endParaRPr>
          </a:p>
        </p:txBody>
      </p:sp>
      <p:sp>
        <p:nvSpPr>
          <p:cNvPr id="208" name="Google Shape;208;p27"/>
          <p:cNvSpPr txBox="1"/>
          <p:nvPr>
            <p:ph idx="4294967295" type="title"/>
          </p:nvPr>
        </p:nvSpPr>
        <p:spPr>
          <a:xfrm>
            <a:off x="72650" y="4650188"/>
            <a:ext cx="4036500" cy="410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sz="1200">
                <a:solidFill>
                  <a:schemeClr val="lt1"/>
                </a:solidFill>
              </a:rPr>
              <a:t>Hinton’s Prophet - Project 1</a:t>
            </a:r>
            <a:endParaRPr sz="1200">
              <a:solidFill>
                <a:schemeClr val="lt1"/>
              </a:solidFill>
            </a:endParaRPr>
          </a:p>
        </p:txBody>
      </p:sp>
      <p:pic>
        <p:nvPicPr>
          <p:cNvPr id="209" name="Google Shape;209;p27"/>
          <p:cNvPicPr preferRelativeResize="0"/>
          <p:nvPr/>
        </p:nvPicPr>
        <p:blipFill>
          <a:blip r:embed="rId3">
            <a:alphaModFix/>
          </a:blip>
          <a:stretch>
            <a:fillRect/>
          </a:stretch>
        </p:blipFill>
        <p:spPr>
          <a:xfrm>
            <a:off x="7119853" y="4660139"/>
            <a:ext cx="1905651" cy="366100"/>
          </a:xfrm>
          <a:prstGeom prst="rect">
            <a:avLst/>
          </a:prstGeom>
          <a:noFill/>
          <a:ln>
            <a:noFill/>
          </a:ln>
        </p:spPr>
      </p:pic>
      <p:pic>
        <p:nvPicPr>
          <p:cNvPr id="210" name="Google Shape;210;p27"/>
          <p:cNvPicPr preferRelativeResize="0"/>
          <p:nvPr/>
        </p:nvPicPr>
        <p:blipFill>
          <a:blip r:embed="rId4">
            <a:alphaModFix/>
          </a:blip>
          <a:stretch>
            <a:fillRect/>
          </a:stretch>
        </p:blipFill>
        <p:spPr>
          <a:xfrm>
            <a:off x="843175" y="1255700"/>
            <a:ext cx="3232650" cy="2563076"/>
          </a:xfrm>
          <a:prstGeom prst="rect">
            <a:avLst/>
          </a:prstGeom>
          <a:noFill/>
          <a:ln>
            <a:noFill/>
          </a:ln>
        </p:spPr>
      </p:pic>
      <p:pic>
        <p:nvPicPr>
          <p:cNvPr id="211" name="Google Shape;211;p27"/>
          <p:cNvPicPr preferRelativeResize="0"/>
          <p:nvPr/>
        </p:nvPicPr>
        <p:blipFill>
          <a:blip r:embed="rId5">
            <a:alphaModFix/>
          </a:blip>
          <a:stretch>
            <a:fillRect/>
          </a:stretch>
        </p:blipFill>
        <p:spPr>
          <a:xfrm>
            <a:off x="4376905" y="3010968"/>
            <a:ext cx="3519250" cy="1203850"/>
          </a:xfrm>
          <a:prstGeom prst="rect">
            <a:avLst/>
          </a:prstGeom>
          <a:noFill/>
          <a:ln>
            <a:noFill/>
          </a:ln>
        </p:spPr>
      </p:pic>
      <p:pic>
        <p:nvPicPr>
          <p:cNvPr id="212" name="Google Shape;212;p27"/>
          <p:cNvPicPr preferRelativeResize="0"/>
          <p:nvPr/>
        </p:nvPicPr>
        <p:blipFill>
          <a:blip r:embed="rId6">
            <a:alphaModFix/>
          </a:blip>
          <a:stretch>
            <a:fillRect/>
          </a:stretch>
        </p:blipFill>
        <p:spPr>
          <a:xfrm>
            <a:off x="4356452" y="217050"/>
            <a:ext cx="3560163" cy="2706167"/>
          </a:xfrm>
          <a:prstGeom prst="rect">
            <a:avLst/>
          </a:prstGeom>
          <a:noFill/>
          <a:ln>
            <a:noFill/>
          </a:ln>
        </p:spPr>
      </p:pic>
      <p:pic>
        <p:nvPicPr>
          <p:cNvPr id="213" name="Google Shape;213;p27"/>
          <p:cNvPicPr preferRelativeResize="0"/>
          <p:nvPr/>
        </p:nvPicPr>
        <p:blipFill>
          <a:blip r:embed="rId7">
            <a:alphaModFix/>
          </a:blip>
          <a:stretch>
            <a:fillRect/>
          </a:stretch>
        </p:blipFill>
        <p:spPr>
          <a:xfrm>
            <a:off x="4356438" y="3010978"/>
            <a:ext cx="3790401" cy="1298850"/>
          </a:xfrm>
          <a:prstGeom prst="rect">
            <a:avLst/>
          </a:prstGeom>
          <a:noFill/>
          <a:ln>
            <a:noFill/>
          </a:ln>
        </p:spPr>
      </p:pic>
      <p:pic>
        <p:nvPicPr>
          <p:cNvPr id="214" name="Google Shape;214;p27"/>
          <p:cNvPicPr preferRelativeResize="0"/>
          <p:nvPr/>
        </p:nvPicPr>
        <p:blipFill rotWithShape="1">
          <a:blip r:embed="rId8">
            <a:alphaModFix/>
          </a:blip>
          <a:srcRect b="-1340" l="1980" r="-1980" t="1339"/>
          <a:stretch/>
        </p:blipFill>
        <p:spPr>
          <a:xfrm>
            <a:off x="4376900" y="240475"/>
            <a:ext cx="3665483" cy="2706174"/>
          </a:xfrm>
          <a:prstGeom prst="rect">
            <a:avLst/>
          </a:prstGeom>
          <a:noFill/>
          <a:ln>
            <a:noFill/>
          </a:ln>
        </p:spPr>
      </p:pic>
      <p:pic>
        <p:nvPicPr>
          <p:cNvPr id="215" name="Google Shape;215;p27"/>
          <p:cNvPicPr preferRelativeResize="0"/>
          <p:nvPr/>
        </p:nvPicPr>
        <p:blipFill>
          <a:blip r:embed="rId9">
            <a:alphaModFix/>
          </a:blip>
          <a:stretch>
            <a:fillRect/>
          </a:stretch>
        </p:blipFill>
        <p:spPr>
          <a:xfrm>
            <a:off x="843175" y="1255700"/>
            <a:ext cx="3232649" cy="268456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FEF"/>
        </a:solidFill>
      </p:bgPr>
    </p:bg>
    <p:spTree>
      <p:nvGrpSpPr>
        <p:cNvPr id="219" name="Shape 219"/>
        <p:cNvGrpSpPr/>
        <p:nvPr/>
      </p:nvGrpSpPr>
      <p:grpSpPr>
        <a:xfrm>
          <a:off x="0" y="0"/>
          <a:ext cx="0" cy="0"/>
          <a:chOff x="0" y="0"/>
          <a:chExt cx="0" cy="0"/>
        </a:xfrm>
      </p:grpSpPr>
      <p:sp>
        <p:nvSpPr>
          <p:cNvPr id="220" name="Google Shape;220;p28"/>
          <p:cNvSpPr/>
          <p:nvPr/>
        </p:nvSpPr>
        <p:spPr>
          <a:xfrm>
            <a:off x="0" y="4568875"/>
            <a:ext cx="9144000" cy="572700"/>
          </a:xfrm>
          <a:prstGeom prst="rect">
            <a:avLst/>
          </a:prstGeom>
          <a:solidFill>
            <a:srgbClr val="1C4587"/>
          </a:solidFill>
          <a:ln cap="flat" cmpd="sng" w="9525">
            <a:solidFill>
              <a:srgbClr val="9E73E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1" name="Google Shape;221;p28"/>
          <p:cNvSpPr/>
          <p:nvPr/>
        </p:nvSpPr>
        <p:spPr>
          <a:xfrm>
            <a:off x="397900" y="453100"/>
            <a:ext cx="2571600" cy="410100"/>
          </a:xfrm>
          <a:prstGeom prst="roundRect">
            <a:avLst>
              <a:gd fmla="val 50000" name="adj"/>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d">
                <a:solidFill>
                  <a:schemeClr val="lt1"/>
                </a:solidFill>
                <a:latin typeface="Inter ExtraBold"/>
                <a:ea typeface="Inter ExtraBold"/>
                <a:cs typeface="Inter ExtraBold"/>
                <a:sym typeface="Inter ExtraBold"/>
              </a:rPr>
              <a:t>Hyperparameter Tuning </a:t>
            </a:r>
            <a:endParaRPr>
              <a:solidFill>
                <a:schemeClr val="lt1"/>
              </a:solidFill>
              <a:latin typeface="Inter ExtraBold"/>
              <a:ea typeface="Inter ExtraBold"/>
              <a:cs typeface="Inter ExtraBold"/>
              <a:sym typeface="Inter ExtraBold"/>
            </a:endParaRPr>
          </a:p>
        </p:txBody>
      </p:sp>
      <p:sp>
        <p:nvSpPr>
          <p:cNvPr id="222" name="Google Shape;222;p28"/>
          <p:cNvSpPr txBox="1"/>
          <p:nvPr>
            <p:ph idx="4294967295" type="title"/>
          </p:nvPr>
        </p:nvSpPr>
        <p:spPr>
          <a:xfrm>
            <a:off x="72650" y="4650188"/>
            <a:ext cx="4036500" cy="410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sz="1200">
                <a:solidFill>
                  <a:schemeClr val="lt1"/>
                </a:solidFill>
              </a:rPr>
              <a:t>Hinton’s Prophet - Project 1</a:t>
            </a:r>
            <a:endParaRPr sz="1200">
              <a:solidFill>
                <a:schemeClr val="lt1"/>
              </a:solidFill>
            </a:endParaRPr>
          </a:p>
        </p:txBody>
      </p:sp>
      <p:pic>
        <p:nvPicPr>
          <p:cNvPr id="223" name="Google Shape;223;p28"/>
          <p:cNvPicPr preferRelativeResize="0"/>
          <p:nvPr/>
        </p:nvPicPr>
        <p:blipFill>
          <a:blip r:embed="rId3">
            <a:alphaModFix/>
          </a:blip>
          <a:stretch>
            <a:fillRect/>
          </a:stretch>
        </p:blipFill>
        <p:spPr>
          <a:xfrm>
            <a:off x="7119853" y="4660139"/>
            <a:ext cx="1905651" cy="366100"/>
          </a:xfrm>
          <a:prstGeom prst="rect">
            <a:avLst/>
          </a:prstGeom>
          <a:noFill/>
          <a:ln>
            <a:noFill/>
          </a:ln>
        </p:spPr>
      </p:pic>
      <p:pic>
        <p:nvPicPr>
          <p:cNvPr id="224" name="Google Shape;224;p28"/>
          <p:cNvPicPr preferRelativeResize="0"/>
          <p:nvPr/>
        </p:nvPicPr>
        <p:blipFill>
          <a:blip r:embed="rId4">
            <a:alphaModFix/>
          </a:blip>
          <a:stretch>
            <a:fillRect/>
          </a:stretch>
        </p:blipFill>
        <p:spPr>
          <a:xfrm>
            <a:off x="554700" y="1073100"/>
            <a:ext cx="4440625" cy="2488976"/>
          </a:xfrm>
          <a:prstGeom prst="rect">
            <a:avLst/>
          </a:prstGeom>
          <a:noFill/>
          <a:ln>
            <a:noFill/>
          </a:ln>
        </p:spPr>
      </p:pic>
      <p:sp>
        <p:nvSpPr>
          <p:cNvPr id="225" name="Google Shape;225;p28"/>
          <p:cNvSpPr txBox="1"/>
          <p:nvPr/>
        </p:nvSpPr>
        <p:spPr>
          <a:xfrm>
            <a:off x="5215325" y="1073100"/>
            <a:ext cx="3000000" cy="15393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id" sz="1100">
                <a:solidFill>
                  <a:schemeClr val="dk1"/>
                </a:solidFill>
              </a:rPr>
              <a:t>Hasil ini menunjukkan bahwa </a:t>
            </a:r>
            <a:r>
              <a:rPr b="1" lang="id" sz="1100">
                <a:solidFill>
                  <a:schemeClr val="dk1"/>
                </a:solidFill>
              </a:rPr>
              <a:t>learning rate kecil (1e-05)</a:t>
            </a:r>
            <a:r>
              <a:rPr lang="id" sz="1100">
                <a:solidFill>
                  <a:schemeClr val="dk1"/>
                </a:solidFill>
              </a:rPr>
              <a:t>, </a:t>
            </a:r>
            <a:r>
              <a:rPr b="1" lang="id" sz="1100">
                <a:solidFill>
                  <a:schemeClr val="dk1"/>
                </a:solidFill>
              </a:rPr>
              <a:t>batch size kecil (8)</a:t>
            </a:r>
            <a:r>
              <a:rPr lang="id" sz="1100">
                <a:solidFill>
                  <a:schemeClr val="dk1"/>
                </a:solidFill>
              </a:rPr>
              <a:t>, dan </a:t>
            </a:r>
            <a:r>
              <a:rPr b="1" lang="id" sz="1100">
                <a:solidFill>
                  <a:schemeClr val="dk1"/>
                </a:solidFill>
              </a:rPr>
              <a:t>jumlah epochs menengah (15)</a:t>
            </a:r>
            <a:r>
              <a:rPr lang="id" sz="1100">
                <a:solidFill>
                  <a:schemeClr val="dk1"/>
                </a:solidFill>
              </a:rPr>
              <a:t> adalah kombinasi optimal untuk model ini. Parameter optimal ini berhasil meningkatkan akurasi model secara signifikan, menjadikannya konfigurasi yang disarankan untuk pelatihan lebih lanjut.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FEF"/>
        </a:solidFill>
      </p:bgPr>
    </p:bg>
    <p:spTree>
      <p:nvGrpSpPr>
        <p:cNvPr id="229" name="Shape 229"/>
        <p:cNvGrpSpPr/>
        <p:nvPr/>
      </p:nvGrpSpPr>
      <p:grpSpPr>
        <a:xfrm>
          <a:off x="0" y="0"/>
          <a:ext cx="0" cy="0"/>
          <a:chOff x="0" y="0"/>
          <a:chExt cx="0" cy="0"/>
        </a:xfrm>
      </p:grpSpPr>
      <p:sp>
        <p:nvSpPr>
          <p:cNvPr id="230" name="Google Shape;230;p29"/>
          <p:cNvSpPr/>
          <p:nvPr/>
        </p:nvSpPr>
        <p:spPr>
          <a:xfrm>
            <a:off x="0" y="4568875"/>
            <a:ext cx="9144000" cy="572700"/>
          </a:xfrm>
          <a:prstGeom prst="rect">
            <a:avLst/>
          </a:prstGeom>
          <a:solidFill>
            <a:srgbClr val="1C4587"/>
          </a:solidFill>
          <a:ln cap="flat" cmpd="sng" w="9525">
            <a:solidFill>
              <a:srgbClr val="9E73E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1" name="Google Shape;231;p29"/>
          <p:cNvSpPr/>
          <p:nvPr/>
        </p:nvSpPr>
        <p:spPr>
          <a:xfrm>
            <a:off x="397900" y="453100"/>
            <a:ext cx="2542800" cy="410100"/>
          </a:xfrm>
          <a:prstGeom prst="roundRect">
            <a:avLst>
              <a:gd fmla="val 50000" name="adj"/>
            </a:avLst>
          </a:prstGeom>
          <a:solidFill>
            <a:srgbClr val="3C78D8"/>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id">
                <a:solidFill>
                  <a:schemeClr val="lt1"/>
                </a:solidFill>
                <a:latin typeface="Inter ExtraBold"/>
                <a:ea typeface="Inter ExtraBold"/>
                <a:cs typeface="Inter ExtraBold"/>
                <a:sym typeface="Inter ExtraBold"/>
              </a:rPr>
              <a:t>Evaluation - GoogleNet</a:t>
            </a:r>
            <a:endParaRPr>
              <a:solidFill>
                <a:schemeClr val="lt1"/>
              </a:solidFill>
              <a:latin typeface="Inter ExtraBold"/>
              <a:ea typeface="Inter ExtraBold"/>
              <a:cs typeface="Inter ExtraBold"/>
              <a:sym typeface="Inter ExtraBold"/>
            </a:endParaRPr>
          </a:p>
        </p:txBody>
      </p:sp>
      <p:sp>
        <p:nvSpPr>
          <p:cNvPr id="232" name="Google Shape;232;p29"/>
          <p:cNvSpPr txBox="1"/>
          <p:nvPr>
            <p:ph idx="4294967295" type="title"/>
          </p:nvPr>
        </p:nvSpPr>
        <p:spPr>
          <a:xfrm>
            <a:off x="72650" y="4650188"/>
            <a:ext cx="4036500" cy="410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sz="1200">
                <a:solidFill>
                  <a:schemeClr val="lt1"/>
                </a:solidFill>
              </a:rPr>
              <a:t>Hinton’s Prophet - Project 1</a:t>
            </a:r>
            <a:endParaRPr sz="1200">
              <a:solidFill>
                <a:schemeClr val="lt1"/>
              </a:solidFill>
            </a:endParaRPr>
          </a:p>
        </p:txBody>
      </p:sp>
      <p:pic>
        <p:nvPicPr>
          <p:cNvPr id="233" name="Google Shape;233;p29"/>
          <p:cNvPicPr preferRelativeResize="0"/>
          <p:nvPr/>
        </p:nvPicPr>
        <p:blipFill>
          <a:blip r:embed="rId3">
            <a:alphaModFix/>
          </a:blip>
          <a:stretch>
            <a:fillRect/>
          </a:stretch>
        </p:blipFill>
        <p:spPr>
          <a:xfrm>
            <a:off x="7119853" y="4660139"/>
            <a:ext cx="1905651" cy="366100"/>
          </a:xfrm>
          <a:prstGeom prst="rect">
            <a:avLst/>
          </a:prstGeom>
          <a:noFill/>
          <a:ln>
            <a:noFill/>
          </a:ln>
        </p:spPr>
      </p:pic>
      <p:pic>
        <p:nvPicPr>
          <p:cNvPr id="234" name="Google Shape;234;p29"/>
          <p:cNvPicPr preferRelativeResize="0"/>
          <p:nvPr/>
        </p:nvPicPr>
        <p:blipFill>
          <a:blip r:embed="rId4">
            <a:alphaModFix/>
          </a:blip>
          <a:stretch>
            <a:fillRect/>
          </a:stretch>
        </p:blipFill>
        <p:spPr>
          <a:xfrm>
            <a:off x="826104" y="1140550"/>
            <a:ext cx="3231726" cy="2500075"/>
          </a:xfrm>
          <a:prstGeom prst="rect">
            <a:avLst/>
          </a:prstGeom>
          <a:noFill/>
          <a:ln>
            <a:noFill/>
          </a:ln>
        </p:spPr>
      </p:pic>
      <p:pic>
        <p:nvPicPr>
          <p:cNvPr id="235" name="Google Shape;235;p29"/>
          <p:cNvPicPr preferRelativeResize="0"/>
          <p:nvPr/>
        </p:nvPicPr>
        <p:blipFill>
          <a:blip r:embed="rId5">
            <a:alphaModFix/>
          </a:blip>
          <a:stretch>
            <a:fillRect/>
          </a:stretch>
        </p:blipFill>
        <p:spPr>
          <a:xfrm>
            <a:off x="4418025" y="2908375"/>
            <a:ext cx="3623175" cy="1288150"/>
          </a:xfrm>
          <a:prstGeom prst="rect">
            <a:avLst/>
          </a:prstGeom>
          <a:noFill/>
          <a:ln>
            <a:noFill/>
          </a:ln>
        </p:spPr>
      </p:pic>
      <p:pic>
        <p:nvPicPr>
          <p:cNvPr id="236" name="Google Shape;236;p29"/>
          <p:cNvPicPr preferRelativeResize="0"/>
          <p:nvPr/>
        </p:nvPicPr>
        <p:blipFill>
          <a:blip r:embed="rId6">
            <a:alphaModFix/>
          </a:blip>
          <a:stretch>
            <a:fillRect/>
          </a:stretch>
        </p:blipFill>
        <p:spPr>
          <a:xfrm>
            <a:off x="4418025" y="194901"/>
            <a:ext cx="3352025" cy="2605075"/>
          </a:xfrm>
          <a:prstGeom prst="rect">
            <a:avLst/>
          </a:prstGeom>
          <a:noFill/>
          <a:ln>
            <a:noFill/>
          </a:ln>
        </p:spPr>
      </p:pic>
      <p:pic>
        <p:nvPicPr>
          <p:cNvPr id="237" name="Google Shape;237;p29"/>
          <p:cNvPicPr preferRelativeResize="0"/>
          <p:nvPr/>
        </p:nvPicPr>
        <p:blipFill>
          <a:blip r:embed="rId7">
            <a:alphaModFix/>
          </a:blip>
          <a:stretch>
            <a:fillRect/>
          </a:stretch>
        </p:blipFill>
        <p:spPr>
          <a:xfrm>
            <a:off x="826100" y="1117050"/>
            <a:ext cx="3231725" cy="2560386"/>
          </a:xfrm>
          <a:prstGeom prst="rect">
            <a:avLst/>
          </a:prstGeom>
          <a:noFill/>
          <a:ln>
            <a:noFill/>
          </a:ln>
        </p:spPr>
      </p:pic>
      <p:pic>
        <p:nvPicPr>
          <p:cNvPr id="238" name="Google Shape;238;p29"/>
          <p:cNvPicPr preferRelativeResize="0"/>
          <p:nvPr/>
        </p:nvPicPr>
        <p:blipFill>
          <a:blip r:embed="rId8">
            <a:alphaModFix/>
          </a:blip>
          <a:stretch>
            <a:fillRect/>
          </a:stretch>
        </p:blipFill>
        <p:spPr>
          <a:xfrm>
            <a:off x="4418025" y="2908375"/>
            <a:ext cx="3623176" cy="1378961"/>
          </a:xfrm>
          <a:prstGeom prst="rect">
            <a:avLst/>
          </a:prstGeom>
          <a:noFill/>
          <a:ln>
            <a:noFill/>
          </a:ln>
        </p:spPr>
      </p:pic>
      <p:pic>
        <p:nvPicPr>
          <p:cNvPr id="239" name="Google Shape;239;p29"/>
          <p:cNvPicPr preferRelativeResize="0"/>
          <p:nvPr/>
        </p:nvPicPr>
        <p:blipFill>
          <a:blip r:embed="rId9">
            <a:alphaModFix/>
          </a:blip>
          <a:stretch>
            <a:fillRect/>
          </a:stretch>
        </p:blipFill>
        <p:spPr>
          <a:xfrm>
            <a:off x="4418025" y="194900"/>
            <a:ext cx="3404431" cy="260507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FEF"/>
        </a:solidFill>
      </p:bgPr>
    </p:bg>
    <p:spTree>
      <p:nvGrpSpPr>
        <p:cNvPr id="243" name="Shape 243"/>
        <p:cNvGrpSpPr/>
        <p:nvPr/>
      </p:nvGrpSpPr>
      <p:grpSpPr>
        <a:xfrm>
          <a:off x="0" y="0"/>
          <a:ext cx="0" cy="0"/>
          <a:chOff x="0" y="0"/>
          <a:chExt cx="0" cy="0"/>
        </a:xfrm>
      </p:grpSpPr>
      <p:sp>
        <p:nvSpPr>
          <p:cNvPr id="244" name="Google Shape;244;p30"/>
          <p:cNvSpPr/>
          <p:nvPr/>
        </p:nvSpPr>
        <p:spPr>
          <a:xfrm>
            <a:off x="0" y="4568875"/>
            <a:ext cx="9144000" cy="572700"/>
          </a:xfrm>
          <a:prstGeom prst="rect">
            <a:avLst/>
          </a:prstGeom>
          <a:solidFill>
            <a:srgbClr val="1C4587"/>
          </a:solidFill>
          <a:ln cap="flat" cmpd="sng" w="9525">
            <a:solidFill>
              <a:srgbClr val="9E73E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5" name="Google Shape;245;p30"/>
          <p:cNvSpPr/>
          <p:nvPr/>
        </p:nvSpPr>
        <p:spPr>
          <a:xfrm>
            <a:off x="397900" y="453100"/>
            <a:ext cx="2571600" cy="410100"/>
          </a:xfrm>
          <a:prstGeom prst="roundRect">
            <a:avLst>
              <a:gd fmla="val 50000" name="adj"/>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d">
                <a:solidFill>
                  <a:schemeClr val="lt1"/>
                </a:solidFill>
                <a:latin typeface="Inter ExtraBold"/>
                <a:ea typeface="Inter ExtraBold"/>
                <a:cs typeface="Inter ExtraBold"/>
                <a:sym typeface="Inter ExtraBold"/>
              </a:rPr>
              <a:t>Hyperparameter Tuning </a:t>
            </a:r>
            <a:endParaRPr>
              <a:solidFill>
                <a:schemeClr val="lt1"/>
              </a:solidFill>
              <a:latin typeface="Inter ExtraBold"/>
              <a:ea typeface="Inter ExtraBold"/>
              <a:cs typeface="Inter ExtraBold"/>
              <a:sym typeface="Inter ExtraBold"/>
            </a:endParaRPr>
          </a:p>
        </p:txBody>
      </p:sp>
      <p:sp>
        <p:nvSpPr>
          <p:cNvPr id="246" name="Google Shape;246;p30"/>
          <p:cNvSpPr txBox="1"/>
          <p:nvPr>
            <p:ph idx="4294967295" type="title"/>
          </p:nvPr>
        </p:nvSpPr>
        <p:spPr>
          <a:xfrm>
            <a:off x="72650" y="4650188"/>
            <a:ext cx="4036500" cy="410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sz="1200">
                <a:solidFill>
                  <a:schemeClr val="lt1"/>
                </a:solidFill>
              </a:rPr>
              <a:t>Hinton’s Prophet - Project 1</a:t>
            </a:r>
            <a:endParaRPr sz="1200">
              <a:solidFill>
                <a:schemeClr val="lt1"/>
              </a:solidFill>
            </a:endParaRPr>
          </a:p>
        </p:txBody>
      </p:sp>
      <p:pic>
        <p:nvPicPr>
          <p:cNvPr id="247" name="Google Shape;247;p30"/>
          <p:cNvPicPr preferRelativeResize="0"/>
          <p:nvPr/>
        </p:nvPicPr>
        <p:blipFill>
          <a:blip r:embed="rId3">
            <a:alphaModFix/>
          </a:blip>
          <a:stretch>
            <a:fillRect/>
          </a:stretch>
        </p:blipFill>
        <p:spPr>
          <a:xfrm>
            <a:off x="7119853" y="4660139"/>
            <a:ext cx="1905651" cy="366100"/>
          </a:xfrm>
          <a:prstGeom prst="rect">
            <a:avLst/>
          </a:prstGeom>
          <a:noFill/>
          <a:ln>
            <a:noFill/>
          </a:ln>
        </p:spPr>
      </p:pic>
      <p:pic>
        <p:nvPicPr>
          <p:cNvPr id="248" name="Google Shape;248;p30"/>
          <p:cNvPicPr preferRelativeResize="0"/>
          <p:nvPr/>
        </p:nvPicPr>
        <p:blipFill>
          <a:blip r:embed="rId4">
            <a:alphaModFix/>
          </a:blip>
          <a:stretch>
            <a:fillRect/>
          </a:stretch>
        </p:blipFill>
        <p:spPr>
          <a:xfrm>
            <a:off x="576225" y="1015600"/>
            <a:ext cx="4576775" cy="2474024"/>
          </a:xfrm>
          <a:prstGeom prst="rect">
            <a:avLst/>
          </a:prstGeom>
          <a:noFill/>
          <a:ln>
            <a:noFill/>
          </a:ln>
        </p:spPr>
      </p:pic>
      <p:sp>
        <p:nvSpPr>
          <p:cNvPr id="249" name="Google Shape;249;p30"/>
          <p:cNvSpPr txBox="1"/>
          <p:nvPr/>
        </p:nvSpPr>
        <p:spPr>
          <a:xfrm>
            <a:off x="5495500" y="1015600"/>
            <a:ext cx="3000000" cy="12006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id" sz="1100">
                <a:solidFill>
                  <a:schemeClr val="dk1"/>
                </a:solidFill>
              </a:rPr>
              <a:t>Hasil ini menunjukkan bahwa </a:t>
            </a:r>
            <a:r>
              <a:rPr b="1" lang="id" sz="1100">
                <a:solidFill>
                  <a:schemeClr val="dk1"/>
                </a:solidFill>
              </a:rPr>
              <a:t>learning rate rendah (0.0001)</a:t>
            </a:r>
            <a:r>
              <a:rPr lang="id" sz="1100">
                <a:solidFill>
                  <a:schemeClr val="dk1"/>
                </a:solidFill>
              </a:rPr>
              <a:t>, </a:t>
            </a:r>
            <a:r>
              <a:rPr b="1" lang="id" sz="1100">
                <a:solidFill>
                  <a:schemeClr val="dk1"/>
                </a:solidFill>
              </a:rPr>
              <a:t>batch size kecil (8)</a:t>
            </a:r>
            <a:r>
              <a:rPr lang="id" sz="1100">
                <a:solidFill>
                  <a:schemeClr val="dk1"/>
                </a:solidFill>
              </a:rPr>
              <a:t>, dan </a:t>
            </a:r>
            <a:r>
              <a:rPr b="1" lang="id" sz="1100">
                <a:solidFill>
                  <a:schemeClr val="dk1"/>
                </a:solidFill>
              </a:rPr>
              <a:t>jumlah epochs moderat (15)</a:t>
            </a:r>
            <a:r>
              <a:rPr lang="id" sz="1100">
                <a:solidFill>
                  <a:schemeClr val="dk1"/>
                </a:solidFill>
              </a:rPr>
              <a:t> adalah kombinasi optimal untuk model ini. Kombinasi ini berhasil memaksimalkan akurasi tanpa terlalu lama waktu pelatihan.</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FEF"/>
        </a:solidFill>
      </p:bgPr>
    </p:bg>
    <p:spTree>
      <p:nvGrpSpPr>
        <p:cNvPr id="253" name="Shape 253"/>
        <p:cNvGrpSpPr/>
        <p:nvPr/>
      </p:nvGrpSpPr>
      <p:grpSpPr>
        <a:xfrm>
          <a:off x="0" y="0"/>
          <a:ext cx="0" cy="0"/>
          <a:chOff x="0" y="0"/>
          <a:chExt cx="0" cy="0"/>
        </a:xfrm>
      </p:grpSpPr>
      <p:sp>
        <p:nvSpPr>
          <p:cNvPr id="254" name="Google Shape;254;p31"/>
          <p:cNvSpPr/>
          <p:nvPr/>
        </p:nvSpPr>
        <p:spPr>
          <a:xfrm>
            <a:off x="0" y="4568875"/>
            <a:ext cx="9144000" cy="572700"/>
          </a:xfrm>
          <a:prstGeom prst="rect">
            <a:avLst/>
          </a:prstGeom>
          <a:solidFill>
            <a:srgbClr val="1C4587"/>
          </a:solidFill>
          <a:ln cap="flat" cmpd="sng" w="9525">
            <a:solidFill>
              <a:srgbClr val="9E73E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5" name="Google Shape;255;p31"/>
          <p:cNvSpPr txBox="1"/>
          <p:nvPr>
            <p:ph idx="4294967295" type="title"/>
          </p:nvPr>
        </p:nvSpPr>
        <p:spPr>
          <a:xfrm>
            <a:off x="72650" y="4650188"/>
            <a:ext cx="4036500" cy="410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sz="1200">
                <a:solidFill>
                  <a:schemeClr val="lt1"/>
                </a:solidFill>
              </a:rPr>
              <a:t>Hinton’s Prophet - Project 1</a:t>
            </a:r>
            <a:endParaRPr sz="1200">
              <a:solidFill>
                <a:schemeClr val="lt1"/>
              </a:solidFill>
            </a:endParaRPr>
          </a:p>
        </p:txBody>
      </p:sp>
      <p:pic>
        <p:nvPicPr>
          <p:cNvPr id="256" name="Google Shape;256;p31"/>
          <p:cNvPicPr preferRelativeResize="0"/>
          <p:nvPr/>
        </p:nvPicPr>
        <p:blipFill>
          <a:blip r:embed="rId3">
            <a:alphaModFix/>
          </a:blip>
          <a:stretch>
            <a:fillRect/>
          </a:stretch>
        </p:blipFill>
        <p:spPr>
          <a:xfrm>
            <a:off x="7119853" y="4660139"/>
            <a:ext cx="1905651" cy="366100"/>
          </a:xfrm>
          <a:prstGeom prst="rect">
            <a:avLst/>
          </a:prstGeom>
          <a:noFill/>
          <a:ln>
            <a:noFill/>
          </a:ln>
        </p:spPr>
      </p:pic>
      <p:pic>
        <p:nvPicPr>
          <p:cNvPr id="257" name="Google Shape;257;p31"/>
          <p:cNvPicPr preferRelativeResize="0"/>
          <p:nvPr/>
        </p:nvPicPr>
        <p:blipFill>
          <a:blip r:embed="rId4">
            <a:alphaModFix/>
          </a:blip>
          <a:stretch>
            <a:fillRect/>
          </a:stretch>
        </p:blipFill>
        <p:spPr>
          <a:xfrm>
            <a:off x="110301" y="1976425"/>
            <a:ext cx="2002915" cy="2504488"/>
          </a:xfrm>
          <a:prstGeom prst="rect">
            <a:avLst/>
          </a:prstGeom>
          <a:noFill/>
          <a:ln>
            <a:noFill/>
          </a:ln>
        </p:spPr>
      </p:pic>
      <p:pic>
        <p:nvPicPr>
          <p:cNvPr id="258" name="Google Shape;258;p31"/>
          <p:cNvPicPr preferRelativeResize="0"/>
          <p:nvPr/>
        </p:nvPicPr>
        <p:blipFill rotWithShape="1">
          <a:blip r:embed="rId5">
            <a:alphaModFix/>
          </a:blip>
          <a:srcRect b="0" l="0" r="0" t="19504"/>
          <a:stretch/>
        </p:blipFill>
        <p:spPr>
          <a:xfrm>
            <a:off x="1600600" y="786275"/>
            <a:ext cx="5979126" cy="1102175"/>
          </a:xfrm>
          <a:prstGeom prst="rect">
            <a:avLst/>
          </a:prstGeom>
          <a:noFill/>
          <a:ln>
            <a:noFill/>
          </a:ln>
        </p:spPr>
      </p:pic>
      <p:pic>
        <p:nvPicPr>
          <p:cNvPr id="259" name="Google Shape;259;p31"/>
          <p:cNvPicPr preferRelativeResize="0"/>
          <p:nvPr/>
        </p:nvPicPr>
        <p:blipFill>
          <a:blip r:embed="rId6">
            <a:alphaModFix/>
          </a:blip>
          <a:stretch>
            <a:fillRect/>
          </a:stretch>
        </p:blipFill>
        <p:spPr>
          <a:xfrm>
            <a:off x="2189422" y="1976412"/>
            <a:ext cx="1446919" cy="2504500"/>
          </a:xfrm>
          <a:prstGeom prst="rect">
            <a:avLst/>
          </a:prstGeom>
          <a:noFill/>
          <a:ln>
            <a:noFill/>
          </a:ln>
        </p:spPr>
      </p:pic>
      <p:sp>
        <p:nvSpPr>
          <p:cNvPr id="260" name="Google Shape;260;p31"/>
          <p:cNvSpPr/>
          <p:nvPr/>
        </p:nvSpPr>
        <p:spPr>
          <a:xfrm>
            <a:off x="177225" y="280075"/>
            <a:ext cx="4102200" cy="410100"/>
          </a:xfrm>
          <a:prstGeom prst="roundRect">
            <a:avLst>
              <a:gd fmla="val 50000" name="adj"/>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d">
                <a:solidFill>
                  <a:schemeClr val="lt1"/>
                </a:solidFill>
                <a:latin typeface="Inter ExtraBold"/>
                <a:ea typeface="Inter ExtraBold"/>
                <a:cs typeface="Inter ExtraBold"/>
                <a:sym typeface="Inter ExtraBold"/>
              </a:rPr>
              <a:t>Deployment (Streamlit)</a:t>
            </a:r>
            <a:endParaRPr>
              <a:solidFill>
                <a:schemeClr val="lt1"/>
              </a:solidFill>
              <a:latin typeface="Inter ExtraBold"/>
              <a:ea typeface="Inter ExtraBold"/>
              <a:cs typeface="Inter ExtraBold"/>
              <a:sym typeface="Inter ExtraBold"/>
            </a:endParaRPr>
          </a:p>
        </p:txBody>
      </p:sp>
      <p:pic>
        <p:nvPicPr>
          <p:cNvPr id="261" name="Google Shape;261;p31"/>
          <p:cNvPicPr preferRelativeResize="0"/>
          <p:nvPr/>
        </p:nvPicPr>
        <p:blipFill>
          <a:blip r:embed="rId7">
            <a:alphaModFix/>
          </a:blip>
          <a:stretch>
            <a:fillRect/>
          </a:stretch>
        </p:blipFill>
        <p:spPr>
          <a:xfrm>
            <a:off x="3712550" y="1976412"/>
            <a:ext cx="1653487" cy="2504500"/>
          </a:xfrm>
          <a:prstGeom prst="rect">
            <a:avLst/>
          </a:prstGeom>
          <a:noFill/>
          <a:ln>
            <a:noFill/>
          </a:ln>
        </p:spPr>
      </p:pic>
      <p:pic>
        <p:nvPicPr>
          <p:cNvPr id="262" name="Google Shape;262;p31"/>
          <p:cNvPicPr preferRelativeResize="0"/>
          <p:nvPr/>
        </p:nvPicPr>
        <p:blipFill>
          <a:blip r:embed="rId8">
            <a:alphaModFix/>
          </a:blip>
          <a:stretch>
            <a:fillRect/>
          </a:stretch>
        </p:blipFill>
        <p:spPr>
          <a:xfrm>
            <a:off x="5442224" y="1976413"/>
            <a:ext cx="1851366" cy="2504500"/>
          </a:xfrm>
          <a:prstGeom prst="rect">
            <a:avLst/>
          </a:prstGeom>
          <a:noFill/>
          <a:ln>
            <a:noFill/>
          </a:ln>
        </p:spPr>
      </p:pic>
      <p:pic>
        <p:nvPicPr>
          <p:cNvPr id="263" name="Google Shape;263;p31"/>
          <p:cNvPicPr preferRelativeResize="0"/>
          <p:nvPr/>
        </p:nvPicPr>
        <p:blipFill rotWithShape="1">
          <a:blip r:embed="rId9">
            <a:alphaModFix/>
          </a:blip>
          <a:srcRect b="24649" l="37105" r="19581" t="8312"/>
          <a:stretch/>
        </p:blipFill>
        <p:spPr>
          <a:xfrm>
            <a:off x="7369800" y="1976412"/>
            <a:ext cx="1653473" cy="1599574"/>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FEF"/>
        </a:solidFill>
      </p:bgPr>
    </p:bg>
    <p:spTree>
      <p:nvGrpSpPr>
        <p:cNvPr id="267" name="Shape 267"/>
        <p:cNvGrpSpPr/>
        <p:nvPr/>
      </p:nvGrpSpPr>
      <p:grpSpPr>
        <a:xfrm>
          <a:off x="0" y="0"/>
          <a:ext cx="0" cy="0"/>
          <a:chOff x="0" y="0"/>
          <a:chExt cx="0" cy="0"/>
        </a:xfrm>
      </p:grpSpPr>
      <p:sp>
        <p:nvSpPr>
          <p:cNvPr id="268" name="Google Shape;268;p32"/>
          <p:cNvSpPr/>
          <p:nvPr/>
        </p:nvSpPr>
        <p:spPr>
          <a:xfrm>
            <a:off x="0" y="4568875"/>
            <a:ext cx="9144000" cy="572700"/>
          </a:xfrm>
          <a:prstGeom prst="rect">
            <a:avLst/>
          </a:prstGeom>
          <a:solidFill>
            <a:srgbClr val="1C4587"/>
          </a:solidFill>
          <a:ln cap="flat" cmpd="sng" w="9525">
            <a:solidFill>
              <a:srgbClr val="9E73E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9" name="Google Shape;269;p32"/>
          <p:cNvSpPr/>
          <p:nvPr/>
        </p:nvSpPr>
        <p:spPr>
          <a:xfrm>
            <a:off x="397900" y="453100"/>
            <a:ext cx="1905600" cy="410100"/>
          </a:xfrm>
          <a:prstGeom prst="roundRect">
            <a:avLst>
              <a:gd fmla="val 50000" name="adj"/>
            </a:avLst>
          </a:prstGeom>
          <a:solidFill>
            <a:srgbClr val="3C78D8"/>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id">
                <a:solidFill>
                  <a:schemeClr val="lt1"/>
                </a:solidFill>
                <a:latin typeface="Inter ExtraBold"/>
                <a:ea typeface="Inter ExtraBold"/>
                <a:cs typeface="Inter ExtraBold"/>
                <a:sym typeface="Inter ExtraBold"/>
              </a:rPr>
              <a:t>Conclusion</a:t>
            </a:r>
            <a:endParaRPr>
              <a:solidFill>
                <a:schemeClr val="lt1"/>
              </a:solidFill>
              <a:latin typeface="Inter ExtraBold"/>
              <a:ea typeface="Inter ExtraBold"/>
              <a:cs typeface="Inter ExtraBold"/>
              <a:sym typeface="Inter ExtraBold"/>
            </a:endParaRPr>
          </a:p>
        </p:txBody>
      </p:sp>
      <p:sp>
        <p:nvSpPr>
          <p:cNvPr id="270" name="Google Shape;270;p32"/>
          <p:cNvSpPr txBox="1"/>
          <p:nvPr>
            <p:ph idx="4294967295" type="title"/>
          </p:nvPr>
        </p:nvSpPr>
        <p:spPr>
          <a:xfrm>
            <a:off x="72650" y="4650188"/>
            <a:ext cx="4036500" cy="410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sz="1200">
                <a:solidFill>
                  <a:schemeClr val="lt1"/>
                </a:solidFill>
              </a:rPr>
              <a:t>Hinton’s Prophet - Project 1</a:t>
            </a:r>
            <a:endParaRPr sz="1200">
              <a:solidFill>
                <a:schemeClr val="lt1"/>
              </a:solidFill>
            </a:endParaRPr>
          </a:p>
        </p:txBody>
      </p:sp>
      <p:pic>
        <p:nvPicPr>
          <p:cNvPr id="271" name="Google Shape;271;p32"/>
          <p:cNvPicPr preferRelativeResize="0"/>
          <p:nvPr/>
        </p:nvPicPr>
        <p:blipFill>
          <a:blip r:embed="rId3">
            <a:alphaModFix/>
          </a:blip>
          <a:stretch>
            <a:fillRect/>
          </a:stretch>
        </p:blipFill>
        <p:spPr>
          <a:xfrm>
            <a:off x="7119853" y="4660139"/>
            <a:ext cx="1905651" cy="366100"/>
          </a:xfrm>
          <a:prstGeom prst="rect">
            <a:avLst/>
          </a:prstGeom>
          <a:noFill/>
          <a:ln>
            <a:noFill/>
          </a:ln>
        </p:spPr>
      </p:pic>
      <p:sp>
        <p:nvSpPr>
          <p:cNvPr id="272" name="Google Shape;272;p32"/>
          <p:cNvSpPr txBox="1"/>
          <p:nvPr/>
        </p:nvSpPr>
        <p:spPr>
          <a:xfrm>
            <a:off x="1023300" y="3390875"/>
            <a:ext cx="70974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id" sz="1500">
                <a:latin typeface="Cambria"/>
                <a:ea typeface="Cambria"/>
                <a:cs typeface="Cambria"/>
                <a:sym typeface="Cambria"/>
              </a:rPr>
              <a:t>“</a:t>
            </a:r>
            <a:r>
              <a:rPr i="1" lang="id" sz="1500">
                <a:solidFill>
                  <a:schemeClr val="dk1"/>
                </a:solidFill>
                <a:latin typeface="Cambria"/>
                <a:ea typeface="Cambria"/>
                <a:cs typeface="Cambria"/>
                <a:sym typeface="Cambria"/>
              </a:rPr>
              <a:t>AI trained by good people will have a bias towards good; AI trained by bad people will have a bias towards bad</a:t>
            </a:r>
            <a:r>
              <a:rPr b="1" lang="id" sz="1500">
                <a:latin typeface="Cambria"/>
                <a:ea typeface="Cambria"/>
                <a:cs typeface="Cambria"/>
                <a:sym typeface="Cambria"/>
              </a:rPr>
              <a:t>” - Geoffrey Hinton</a:t>
            </a:r>
            <a:endParaRPr b="1" sz="1500">
              <a:latin typeface="Cambria"/>
              <a:ea typeface="Cambria"/>
              <a:cs typeface="Cambria"/>
              <a:sym typeface="Cambria"/>
            </a:endParaRPr>
          </a:p>
        </p:txBody>
      </p:sp>
      <p:sp>
        <p:nvSpPr>
          <p:cNvPr id="273" name="Google Shape;273;p32"/>
          <p:cNvSpPr txBox="1"/>
          <p:nvPr/>
        </p:nvSpPr>
        <p:spPr>
          <a:xfrm>
            <a:off x="456000" y="1144888"/>
            <a:ext cx="8232000" cy="2232000"/>
          </a:xfrm>
          <a:prstGeom prst="rect">
            <a:avLst/>
          </a:prstGeom>
          <a:noFill/>
          <a:ln>
            <a:noFill/>
          </a:ln>
        </p:spPr>
        <p:txBody>
          <a:bodyPr anchorCtr="0" anchor="t" bIns="91425" lIns="91425" spcFirstLastPara="1" rIns="91425" wrap="square" tIns="91425">
            <a:spAutoFit/>
          </a:bodyPr>
          <a:lstStyle/>
          <a:p>
            <a:pPr indent="-349250" lvl="0" marL="457200" rtl="0" algn="l">
              <a:spcBef>
                <a:spcPts val="0"/>
              </a:spcBef>
              <a:spcAft>
                <a:spcPts val="0"/>
              </a:spcAft>
              <a:buClr>
                <a:schemeClr val="dk1"/>
              </a:buClr>
              <a:buSzPts val="1900"/>
              <a:buFont typeface="Cambria"/>
              <a:buChar char="-"/>
            </a:pPr>
            <a:r>
              <a:rPr lang="id" sz="1900">
                <a:solidFill>
                  <a:schemeClr val="dk1"/>
                </a:solidFill>
                <a:latin typeface="Cambria"/>
                <a:ea typeface="Cambria"/>
                <a:cs typeface="Cambria"/>
                <a:sym typeface="Cambria"/>
              </a:rPr>
              <a:t>Berdasarkan akurasi, stabilitas, dan efisiensi, </a:t>
            </a:r>
            <a:r>
              <a:rPr b="1" lang="id" sz="1900">
                <a:solidFill>
                  <a:schemeClr val="dk1"/>
                </a:solidFill>
                <a:latin typeface="Cambria"/>
                <a:ea typeface="Cambria"/>
                <a:cs typeface="Cambria"/>
                <a:sym typeface="Cambria"/>
              </a:rPr>
              <a:t>GoogleNet</a:t>
            </a:r>
            <a:r>
              <a:rPr lang="id" sz="1900">
                <a:solidFill>
                  <a:schemeClr val="dk1"/>
                </a:solidFill>
                <a:latin typeface="Cambria"/>
                <a:ea typeface="Cambria"/>
                <a:cs typeface="Cambria"/>
                <a:sym typeface="Cambria"/>
              </a:rPr>
              <a:t> dapat dianggap sebagai model terbaik karena mencapai akurasi tertinggi (98.3%) dengan konfigurasi optimal dan stabil dalam berbagai skenario.</a:t>
            </a:r>
            <a:endParaRPr sz="1900">
              <a:solidFill>
                <a:schemeClr val="dk1"/>
              </a:solidFill>
              <a:latin typeface="Cambria"/>
              <a:ea typeface="Cambria"/>
              <a:cs typeface="Cambria"/>
              <a:sym typeface="Cambria"/>
            </a:endParaRPr>
          </a:p>
          <a:p>
            <a:pPr indent="-349250" lvl="0" marL="457200" rtl="0" algn="l">
              <a:spcBef>
                <a:spcPts val="0"/>
              </a:spcBef>
              <a:spcAft>
                <a:spcPts val="0"/>
              </a:spcAft>
              <a:buClr>
                <a:schemeClr val="dk1"/>
              </a:buClr>
              <a:buSzPts val="1900"/>
              <a:buFont typeface="Cambria"/>
              <a:buChar char="-"/>
            </a:pPr>
            <a:r>
              <a:rPr lang="id" sz="1900">
                <a:solidFill>
                  <a:schemeClr val="dk1"/>
                </a:solidFill>
                <a:latin typeface="Cambria"/>
                <a:ea typeface="Cambria"/>
                <a:cs typeface="Cambria"/>
                <a:sym typeface="Cambria"/>
              </a:rPr>
              <a:t>ResNet menjadi pilihan alternatif yang sangat baik, terutama jika model diinginkan untuk menangani kategori Male lebih akurat</a:t>
            </a:r>
            <a:endParaRPr sz="1900">
              <a:solidFill>
                <a:schemeClr val="dk1"/>
              </a:solidFill>
              <a:latin typeface="Cambria"/>
              <a:ea typeface="Cambria"/>
              <a:cs typeface="Cambria"/>
              <a:sym typeface="Cambria"/>
            </a:endParaRPr>
          </a:p>
          <a:p>
            <a:pPr indent="-349250" lvl="0" marL="457200" rtl="0" algn="l">
              <a:spcBef>
                <a:spcPts val="0"/>
              </a:spcBef>
              <a:spcAft>
                <a:spcPts val="0"/>
              </a:spcAft>
              <a:buClr>
                <a:schemeClr val="dk1"/>
              </a:buClr>
              <a:buSzPts val="1900"/>
              <a:buFont typeface="Cambria"/>
              <a:buChar char="-"/>
            </a:pPr>
            <a:r>
              <a:rPr lang="id" sz="1900">
                <a:solidFill>
                  <a:schemeClr val="dk1"/>
                </a:solidFill>
                <a:latin typeface="Cambria"/>
                <a:ea typeface="Cambria"/>
                <a:cs typeface="Cambria"/>
                <a:sym typeface="Cambria"/>
              </a:rPr>
              <a:t>Meskipun memiliki akurasi yang relatif baik, performa VGG sedikit tertinggal dibandingkan ResNet dan GoogleNet</a:t>
            </a:r>
            <a:endParaRPr sz="1900">
              <a:solidFill>
                <a:schemeClr val="dk1"/>
              </a:solidFill>
              <a:latin typeface="Cambria"/>
              <a:ea typeface="Cambria"/>
              <a:cs typeface="Cambria"/>
              <a:sym typeface="Cambria"/>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FEF"/>
        </a:solidFill>
      </p:bgPr>
    </p:bg>
    <p:spTree>
      <p:nvGrpSpPr>
        <p:cNvPr id="277" name="Shape 277"/>
        <p:cNvGrpSpPr/>
        <p:nvPr/>
      </p:nvGrpSpPr>
      <p:grpSpPr>
        <a:xfrm>
          <a:off x="0" y="0"/>
          <a:ext cx="0" cy="0"/>
          <a:chOff x="0" y="0"/>
          <a:chExt cx="0" cy="0"/>
        </a:xfrm>
      </p:grpSpPr>
      <p:sp>
        <p:nvSpPr>
          <p:cNvPr id="278" name="Google Shape;278;p33"/>
          <p:cNvSpPr/>
          <p:nvPr/>
        </p:nvSpPr>
        <p:spPr>
          <a:xfrm>
            <a:off x="0" y="4568875"/>
            <a:ext cx="9144000" cy="572700"/>
          </a:xfrm>
          <a:prstGeom prst="rect">
            <a:avLst/>
          </a:prstGeom>
          <a:solidFill>
            <a:srgbClr val="1C4587"/>
          </a:solidFill>
          <a:ln cap="flat" cmpd="sng" w="9525">
            <a:solidFill>
              <a:srgbClr val="9E73E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9" name="Google Shape;279;p33"/>
          <p:cNvSpPr/>
          <p:nvPr/>
        </p:nvSpPr>
        <p:spPr>
          <a:xfrm>
            <a:off x="397900" y="453100"/>
            <a:ext cx="1905600" cy="410100"/>
          </a:xfrm>
          <a:prstGeom prst="roundRect">
            <a:avLst>
              <a:gd fmla="val 50000" name="adj"/>
            </a:avLst>
          </a:prstGeom>
          <a:solidFill>
            <a:srgbClr val="3C78D8"/>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id">
                <a:solidFill>
                  <a:schemeClr val="lt1"/>
                </a:solidFill>
                <a:latin typeface="Inter ExtraBold"/>
                <a:ea typeface="Inter ExtraBold"/>
                <a:cs typeface="Inter ExtraBold"/>
                <a:sym typeface="Inter ExtraBold"/>
              </a:rPr>
              <a:t>Referensi</a:t>
            </a:r>
            <a:endParaRPr>
              <a:solidFill>
                <a:schemeClr val="lt1"/>
              </a:solidFill>
              <a:latin typeface="Inter ExtraBold"/>
              <a:ea typeface="Inter ExtraBold"/>
              <a:cs typeface="Inter ExtraBold"/>
              <a:sym typeface="Inter ExtraBold"/>
            </a:endParaRPr>
          </a:p>
        </p:txBody>
      </p:sp>
      <p:sp>
        <p:nvSpPr>
          <p:cNvPr id="280" name="Google Shape;280;p33"/>
          <p:cNvSpPr txBox="1"/>
          <p:nvPr>
            <p:ph idx="4294967295" type="title"/>
          </p:nvPr>
        </p:nvSpPr>
        <p:spPr>
          <a:xfrm>
            <a:off x="72650" y="4650188"/>
            <a:ext cx="4036500" cy="410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sz="1200">
                <a:solidFill>
                  <a:schemeClr val="lt1"/>
                </a:solidFill>
              </a:rPr>
              <a:t>Hinton’s Prophet - Project 1</a:t>
            </a:r>
            <a:endParaRPr sz="1200">
              <a:solidFill>
                <a:schemeClr val="lt1"/>
              </a:solidFill>
            </a:endParaRPr>
          </a:p>
        </p:txBody>
      </p:sp>
      <p:pic>
        <p:nvPicPr>
          <p:cNvPr id="281" name="Google Shape;281;p33"/>
          <p:cNvPicPr preferRelativeResize="0"/>
          <p:nvPr/>
        </p:nvPicPr>
        <p:blipFill>
          <a:blip r:embed="rId3">
            <a:alphaModFix/>
          </a:blip>
          <a:stretch>
            <a:fillRect/>
          </a:stretch>
        </p:blipFill>
        <p:spPr>
          <a:xfrm>
            <a:off x="7119853" y="4660139"/>
            <a:ext cx="1905651" cy="366100"/>
          </a:xfrm>
          <a:prstGeom prst="rect">
            <a:avLst/>
          </a:prstGeom>
          <a:noFill/>
          <a:ln>
            <a:noFill/>
          </a:ln>
        </p:spPr>
      </p:pic>
      <p:sp>
        <p:nvSpPr>
          <p:cNvPr id="282" name="Google Shape;282;p33"/>
          <p:cNvSpPr txBox="1"/>
          <p:nvPr/>
        </p:nvSpPr>
        <p:spPr>
          <a:xfrm>
            <a:off x="951050" y="1047400"/>
            <a:ext cx="7233000" cy="19857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id" sz="1300">
                <a:solidFill>
                  <a:schemeClr val="dk1"/>
                </a:solidFill>
                <a:latin typeface="Cambria"/>
                <a:ea typeface="Cambria"/>
                <a:cs typeface="Cambria"/>
                <a:sym typeface="Cambria"/>
              </a:rPr>
              <a:t>[1] Srivastava, G., &amp; Bag, S. (2024). Modern-day marketing concepts based on face recognition and neuro-marketing: a review and future research directions. Benchmarking: An International Journal, 31(2), 410-438.</a:t>
            </a:r>
            <a:endParaRPr sz="1300">
              <a:solidFill>
                <a:schemeClr val="dk1"/>
              </a:solidFill>
              <a:latin typeface="Cambria"/>
              <a:ea typeface="Cambria"/>
              <a:cs typeface="Cambria"/>
              <a:sym typeface="Cambria"/>
            </a:endParaRPr>
          </a:p>
          <a:p>
            <a:pPr indent="0" lvl="0" marL="0" rtl="0" algn="just">
              <a:spcBef>
                <a:spcPts val="0"/>
              </a:spcBef>
              <a:spcAft>
                <a:spcPts val="0"/>
              </a:spcAft>
              <a:buNone/>
            </a:pPr>
            <a:r>
              <a:rPr lang="id" sz="1300">
                <a:solidFill>
                  <a:schemeClr val="dk1"/>
                </a:solidFill>
                <a:latin typeface="Cambria"/>
                <a:ea typeface="Cambria"/>
                <a:cs typeface="Cambria"/>
                <a:sym typeface="Cambria"/>
              </a:rPr>
              <a:t>[2] Opanasenko, V. M., Fazilov, S. K., Radjabov, S. S., &amp; Kakharov, S. S. (2024). Multilevel Face Recognition System. Cybernetics and Systems Analysis, 60(1), 146-151.</a:t>
            </a:r>
            <a:endParaRPr sz="1300">
              <a:solidFill>
                <a:schemeClr val="dk1"/>
              </a:solidFill>
              <a:latin typeface="Cambria"/>
              <a:ea typeface="Cambria"/>
              <a:cs typeface="Cambria"/>
              <a:sym typeface="Cambria"/>
            </a:endParaRPr>
          </a:p>
          <a:p>
            <a:pPr indent="0" lvl="0" marL="0" rtl="0" algn="just">
              <a:spcBef>
                <a:spcPts val="0"/>
              </a:spcBef>
              <a:spcAft>
                <a:spcPts val="0"/>
              </a:spcAft>
              <a:buNone/>
            </a:pPr>
            <a:r>
              <a:rPr lang="id" sz="1300">
                <a:solidFill>
                  <a:schemeClr val="dk1"/>
                </a:solidFill>
                <a:latin typeface="Cambria"/>
                <a:ea typeface="Cambria"/>
                <a:cs typeface="Cambria"/>
                <a:sym typeface="Cambria"/>
              </a:rPr>
              <a:t>[3] GWoubie, A., Solomon, E., &amp; Attieh, J. (2024). Maintaining Privacy in Face Recognition using Federated Learning Method. IEEE Access.</a:t>
            </a:r>
            <a:endParaRPr sz="1300">
              <a:solidFill>
                <a:schemeClr val="dk1"/>
              </a:solidFill>
              <a:latin typeface="Cambria"/>
              <a:ea typeface="Cambria"/>
              <a:cs typeface="Cambria"/>
              <a:sym typeface="Cambria"/>
            </a:endParaRPr>
          </a:p>
          <a:p>
            <a:pPr indent="0" lvl="0" marL="0" rtl="0" algn="just">
              <a:spcBef>
                <a:spcPts val="0"/>
              </a:spcBef>
              <a:spcAft>
                <a:spcPts val="0"/>
              </a:spcAft>
              <a:buNone/>
            </a:pPr>
            <a:r>
              <a:rPr lang="id" sz="1300">
                <a:solidFill>
                  <a:schemeClr val="dk1"/>
                </a:solidFill>
                <a:latin typeface="Cambria"/>
                <a:ea typeface="Cambria"/>
                <a:cs typeface="Cambria"/>
                <a:sym typeface="Cambria"/>
              </a:rPr>
              <a:t>[4] Gururaj, H. L., Soundarya, B. C., Priya, S., Shreyas, J., &amp; Flammini, F. (2024). A Comprehensive Review of Face Recognition Techniques, Trends and Challenges. IEEE Access.</a:t>
            </a:r>
            <a:endParaRPr sz="1300">
              <a:solidFill>
                <a:schemeClr val="dk1"/>
              </a:solidFill>
              <a:latin typeface="Cambria"/>
              <a:ea typeface="Cambria"/>
              <a:cs typeface="Cambria"/>
              <a:sym typeface="Cambria"/>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Masukan</a:t>
            </a:r>
            <a:endParaRPr/>
          </a:p>
        </p:txBody>
      </p:sp>
      <p:sp>
        <p:nvSpPr>
          <p:cNvPr id="288" name="Google Shape;288;p3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d"/>
              <a:t>ditampilkan margin male dan femalenya biar tau perbandingan datanya imbalance atau enggak</a:t>
            </a:r>
            <a:endParaRPr/>
          </a:p>
          <a:p>
            <a:pPr indent="-342900" lvl="0" marL="457200" rtl="0" algn="l">
              <a:spcBef>
                <a:spcPts val="0"/>
              </a:spcBef>
              <a:spcAft>
                <a:spcPts val="0"/>
              </a:spcAft>
              <a:buSzPts val="1800"/>
              <a:buChar char="-"/>
            </a:pPr>
            <a:r>
              <a:rPr lang="id"/>
              <a:t>Coba dihitung training timenya dan inference time</a:t>
            </a:r>
            <a:endParaRPr/>
          </a:p>
          <a:p>
            <a:pPr indent="-342900" lvl="0" marL="457200" rtl="0" algn="l">
              <a:spcBef>
                <a:spcPts val="0"/>
              </a:spcBef>
              <a:spcAft>
                <a:spcPts val="0"/>
              </a:spcAft>
              <a:buSzPts val="1800"/>
              <a:buChar char="-"/>
            </a:pPr>
            <a:r>
              <a:rPr lang="id"/>
              <a:t>bisa dicoba vgg19, resnet50, inception, dll</a:t>
            </a:r>
            <a:endParaRPr/>
          </a:p>
          <a:p>
            <a:pPr indent="-342900" lvl="0" marL="457200" rtl="0" algn="l">
              <a:spcBef>
                <a:spcPts val="0"/>
              </a:spcBef>
              <a:spcAft>
                <a:spcPts val="0"/>
              </a:spcAft>
              <a:buSzPts val="1800"/>
              <a:buChar char="-"/>
            </a:pPr>
            <a:r>
              <a:rPr lang="id"/>
              <a:t>Strimlitnya bisa dibagusin lagi, project description, dan dibikin lebih interaktif inject html</a:t>
            </a:r>
            <a:endParaRPr/>
          </a:p>
          <a:p>
            <a:pPr indent="-342900" lvl="0" marL="457200" rtl="0" algn="l">
              <a:spcBef>
                <a:spcPts val="0"/>
              </a:spcBef>
              <a:spcAft>
                <a:spcPts val="0"/>
              </a:spcAft>
              <a:buSzPts val="1800"/>
              <a:buChar char="-"/>
            </a:pPr>
            <a:r>
              <a:rPr lang="id"/>
              <a:t>tampilkan nilai logits</a:t>
            </a:r>
            <a:endParaRPr/>
          </a:p>
          <a:p>
            <a:pPr indent="-342900" lvl="0" marL="457200" rtl="0" algn="l">
              <a:spcBef>
                <a:spcPts val="0"/>
              </a:spcBef>
              <a:spcAft>
                <a:spcPts val="0"/>
              </a:spcAft>
              <a:buSzPts val="1800"/>
              <a:buChar char="-"/>
            </a:pPr>
            <a:r>
              <a:rPr lang="id"/>
              <a:t>ditambahin label aktual dan predictednya biar keliatan hasilnya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